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A2499-123E-A332-5726-D55FD7C91C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F78FA3-79E9-AE43-16CB-2B657C2CF9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109ED-BB1E-097A-4503-FADBE2320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D2AA3-8442-4979-9FEA-3AEC3A701A8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05769-9AFC-79FA-AF8A-1DFC6CE10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80FF0-650B-A12E-4E76-AB59FF20B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00D9A-548B-42F6-9E4A-A19E2DBBE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583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30EF9-A96F-7B85-2A7D-BE2E75062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2F5E2-6CD3-B11C-21C1-315541E14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5F60A-1150-3137-4C4B-E0D3B3B14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D2AA3-8442-4979-9FEA-3AEC3A701A8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9AD47-A1E9-7D9F-300E-FB681085F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D3FBB-4A2E-DA8C-2EF1-BC260D48F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00D9A-548B-42F6-9E4A-A19E2DBBE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095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C318F-3CE6-E5A6-2DAC-D3B700C8B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69D6DA-CF46-843E-AB1C-D77735D3F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230F6-4100-2AFC-BF27-A49392975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D2AA3-8442-4979-9FEA-3AEC3A701A8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13818-267F-2AF0-8DAE-CA86B3C28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2725E-1EB8-C91B-471C-40C357A98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00D9A-548B-42F6-9E4A-A19E2DBBE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546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7BBC2-8E00-A7B3-F4C2-A4A9D9DDA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8D853-55FD-9740-2CA2-B1230C74F5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7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86A53F-C61E-4ACB-0E1D-8FEC5128E8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7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88754-63A9-B7C1-9BF2-C1CA63B12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D2AA3-8442-4979-9FEA-3AEC3A701A8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5CAF90-A9A7-F14E-F322-CD5AC7CCE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F3869-7B80-E65A-1A69-6FD88FC7E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00D9A-548B-42F6-9E4A-A19E2DBBE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238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92F11-493E-BCE2-B41F-4B6B6A9BF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3DAA67-52DC-78CE-6DD0-718A87EE5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4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A0D811-DDE9-3012-E532-C06B3D116D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9C464A-7C49-8BEF-EA7E-BEE0639892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4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F65B09-F72D-ADE7-9542-BF6000FB18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5E304C-27A8-AA14-0BF7-1787F17E7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D2AA3-8442-4979-9FEA-3AEC3A701A8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89AB88-8120-2784-5195-3568E48D0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2CDEFA-6662-930A-E0AD-F9EDFC4F3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00D9A-548B-42F6-9E4A-A19E2DBBE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94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2398A-B76E-81BB-AA23-253BC3704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47262C-F920-C384-1ABC-BD76BB60C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D2AA3-8442-4979-9FEA-3AEC3A701A8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66B6A1-DF28-CBED-A96D-88AF45D9F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5048F8-CE57-1B43-B116-F8A093802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00D9A-548B-42F6-9E4A-A19E2DBBE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351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FB4061-D648-2469-2642-2FB8103C9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D2AA3-8442-4979-9FEA-3AEC3A701A8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284DF5-1B74-C38F-529C-17F89ABA9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1B7145-3D63-230E-F6D5-E7187A583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00D9A-548B-42F6-9E4A-A19E2DBBE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976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C4FA7-6C5F-3946-7CD3-5771D3370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162CC-A345-C336-9FFC-7227C42BB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497B53-3A3E-2D3E-817F-293E9EE1B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08A2B1-C3B1-E029-9AAF-F1C94907C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D2AA3-8442-4979-9FEA-3AEC3A701A8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BCF7F-0B77-9387-F41C-79C47107B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D76DAE-25BB-BCA7-CACD-D4CAB59D9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00D9A-548B-42F6-9E4A-A19E2DBBE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403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DAE60-71F3-F04E-9E10-2D522F218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7C1A75-C69B-2B46-B918-3DE12C510D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B9F99F-A7F8-8BFC-CAAD-885E91F339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1CB1A5-ADC9-C527-343B-2D961EF97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D2AA3-8442-4979-9FEA-3AEC3A701A8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DE4B7E-6EFD-8DC9-6994-47BB30160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49729C-2C95-CB21-178B-B22440740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00D9A-548B-42F6-9E4A-A19E2DBBE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767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D0751-3C32-269C-F738-523EFD6F1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5EDCEC-8713-848D-3C09-223CD76296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B67AF-F484-B0DC-7AD1-368841FD9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D2AA3-8442-4979-9FEA-3AEC3A701A8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26F22-E4BB-9159-0B5F-EDD3E5B5B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648C4-7FE2-1064-8F43-CC7C1D97F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00D9A-548B-42F6-9E4A-A19E2DBBE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761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DE8DBB-C099-6C4D-9BF1-33EE9F9209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58B97-F4EF-74D9-83EC-666D3871F3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7A254-EF5C-4550-1D89-AAE072D3E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D2AA3-8442-4979-9FEA-3AEC3A701A8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2C7C20-083B-4E42-E72E-E2CC46B8E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275F5-2E16-8F2F-33D0-26C4871FE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00D9A-548B-42F6-9E4A-A19E2DBBE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33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BDD1B7-B19B-CEF4-7A4B-8E23F5E4A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39D11A-12CA-636E-9678-3E1791573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A45C4-43EC-99C9-7163-795F273A71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3D2AA3-8442-4979-9FEA-3AEC3A701A8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686B3-80BE-D940-2EBF-F501277818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AB5C8-F7F5-6702-32A6-B0C8FC49DD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C00D9A-548B-42F6-9E4A-A19E2DBBE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191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A9E8A32-D70E-0D5F-1888-2D4D1900EEB4}"/>
              </a:ext>
            </a:extLst>
          </p:cNvPr>
          <p:cNvSpPr/>
          <p:nvPr/>
        </p:nvSpPr>
        <p:spPr>
          <a:xfrm>
            <a:off x="0" y="0"/>
            <a:ext cx="7747000" cy="6858000"/>
          </a:xfrm>
          <a:prstGeom prst="rect">
            <a:avLst/>
          </a:prstGeom>
          <a:solidFill>
            <a:srgbClr val="5E36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7C10B3-97FD-87CA-0EA2-05F92040F15F}"/>
              </a:ext>
            </a:extLst>
          </p:cNvPr>
          <p:cNvSpPr txBox="1"/>
          <p:nvPr/>
        </p:nvSpPr>
        <p:spPr>
          <a:xfrm>
            <a:off x="609600" y="787400"/>
            <a:ext cx="6604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200" b="1">
                <a:solidFill>
                  <a:srgbClr val="FFFDF8"/>
                </a:solidFill>
                <a:latin typeface="Aptos" panose="020B0004020202020204" pitchFamily="34" charset="0"/>
              </a:rPr>
              <a:t>FINAL FUNDRAISING PITCH  |  8 MINUTES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201C48-766A-1594-154D-9B1C3EE85662}"/>
              </a:ext>
            </a:extLst>
          </p:cNvPr>
          <p:cNvSpPr txBox="1"/>
          <p:nvPr/>
        </p:nvSpPr>
        <p:spPr>
          <a:xfrm>
            <a:off x="609600" y="1600200"/>
            <a:ext cx="6731000" cy="1054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4600">
                <a:solidFill>
                  <a:srgbClr val="FFFDF8"/>
                </a:solidFill>
                <a:latin typeface="Georgia" panose="02040502050405020303" pitchFamily="18" charset="0"/>
              </a:rPr>
              <a:t>CareerCloset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2A5408-FF83-C8EF-F0DF-280C285387F9}"/>
              </a:ext>
            </a:extLst>
          </p:cNvPr>
          <p:cNvSpPr txBox="1"/>
          <p:nvPr/>
        </p:nvSpPr>
        <p:spPr>
          <a:xfrm>
            <a:off x="609600" y="2984500"/>
            <a:ext cx="6350000" cy="1244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2700">
                <a:solidFill>
                  <a:srgbClr val="FFFDF8"/>
                </a:solidFill>
                <a:latin typeface="Georgia" panose="02040502050405020303" pitchFamily="18" charset="0"/>
              </a:rPr>
              <a:t>Professional clothing should open doors, not close wallets.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BEFA37-4078-831F-EA81-9EA1A39E33E6}"/>
              </a:ext>
            </a:extLst>
          </p:cNvPr>
          <p:cNvSpPr txBox="1"/>
          <p:nvPr/>
        </p:nvSpPr>
        <p:spPr>
          <a:xfrm>
            <a:off x="609600" y="4635500"/>
            <a:ext cx="59690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800">
                <a:solidFill>
                  <a:srgbClr val="E6DDE7"/>
                </a:solidFill>
                <a:latin typeface="Aptos" panose="020B0004020202020204" pitchFamily="34" charset="0"/>
              </a:rPr>
              <a:t>A campus-based rental pilot for interviews and career events.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8E1B76B-91D8-198D-3F0E-D019F6EFF65E}"/>
              </a:ext>
            </a:extLst>
          </p:cNvPr>
          <p:cNvSpPr/>
          <p:nvPr/>
        </p:nvSpPr>
        <p:spPr>
          <a:xfrm>
            <a:off x="8255000" y="1473200"/>
            <a:ext cx="3175000" cy="3619500"/>
          </a:xfrm>
          <a:prstGeom prst="roundRect">
            <a:avLst/>
          </a:prstGeom>
          <a:solidFill>
            <a:srgbClr val="FFF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2C892E-E561-73D0-C131-849A65B9BCA0}"/>
              </a:ext>
            </a:extLst>
          </p:cNvPr>
          <p:cNvSpPr txBox="1"/>
          <p:nvPr/>
        </p:nvSpPr>
        <p:spPr>
          <a:xfrm>
            <a:off x="8636000" y="1955800"/>
            <a:ext cx="2413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300" b="1">
                <a:solidFill>
                  <a:srgbClr val="5E365F"/>
                </a:solidFill>
                <a:latin typeface="Aptos" panose="020B0004020202020204" pitchFamily="34" charset="0"/>
              </a:rPr>
              <a:t>THE ASK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E99011-E60A-43EB-692A-DBCB8DCB5FBB}"/>
              </a:ext>
            </a:extLst>
          </p:cNvPr>
          <p:cNvSpPr txBox="1"/>
          <p:nvPr/>
        </p:nvSpPr>
        <p:spPr>
          <a:xfrm>
            <a:off x="8636000" y="2603500"/>
            <a:ext cx="26670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3900" b="1">
                <a:solidFill>
                  <a:srgbClr val="D7654C"/>
                </a:solidFill>
                <a:latin typeface="Georgia" panose="02040502050405020303" pitchFamily="18" charset="0"/>
              </a:rPr>
              <a:t>$15,000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99A596-33DE-A841-994C-FD75F84712F2}"/>
              </a:ext>
            </a:extLst>
          </p:cNvPr>
          <p:cNvSpPr txBox="1"/>
          <p:nvPr/>
        </p:nvSpPr>
        <p:spPr>
          <a:xfrm>
            <a:off x="8636000" y="3632200"/>
            <a:ext cx="2413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2000">
                <a:solidFill>
                  <a:srgbClr val="20252B"/>
                </a:solidFill>
                <a:latin typeface="Georgia" panose="02040502050405020303" pitchFamily="18" charset="0"/>
              </a:rPr>
              <a:t>to prove one repeatable, paid campus pilot.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41357F-C190-D7B3-F7C8-A5D5ED2192E9}"/>
              </a:ext>
            </a:extLst>
          </p:cNvPr>
          <p:cNvSpPr txBox="1"/>
          <p:nvPr/>
        </p:nvSpPr>
        <p:spPr>
          <a:xfrm>
            <a:off x="8255000" y="5410200"/>
            <a:ext cx="31750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6B7077"/>
                </a:solidFill>
                <a:latin typeface="Aptos" panose="020B0004020202020204" pitchFamily="34" charset="0"/>
              </a:rPr>
              <a:t>Six months  |  One campus  |  Measured evidence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6CDA61-3302-06D7-23D5-1A7C93DFC892}"/>
              </a:ext>
            </a:extLst>
          </p:cNvPr>
          <p:cNvSpPr txBox="1"/>
          <p:nvPr/>
        </p:nvSpPr>
        <p:spPr>
          <a:xfrm>
            <a:off x="609600" y="6311900"/>
            <a:ext cx="635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900" b="1">
                <a:solidFill>
                  <a:srgbClr val="E6DDE7"/>
                </a:solidFill>
                <a:latin typeface="Aptos" panose="020B0004020202020204" pitchFamily="34" charset="0"/>
              </a:rPr>
              <a:t>CAREERCLOSET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0C8B61-B787-6A67-2ECF-010B48259526}"/>
              </a:ext>
            </a:extLst>
          </p:cNvPr>
          <p:cNvSpPr txBox="1"/>
          <p:nvPr/>
        </p:nvSpPr>
        <p:spPr>
          <a:xfrm>
            <a:off x="10896600" y="6311900"/>
            <a:ext cx="787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sz="900">
                <a:solidFill>
                  <a:srgbClr val="6B7077"/>
                </a:solidFill>
                <a:latin typeface="Aptos" panose="020B0004020202020204" pitchFamily="34" charset="0"/>
              </a:rPr>
              <a:t>1 / 12</a:t>
            </a:r>
          </a:p>
        </p:txBody>
      </p:sp>
    </p:spTree>
    <p:extLst>
      <p:ext uri="{BB962C8B-B14F-4D97-AF65-F5344CB8AC3E}">
        <p14:creationId xmlns:p14="http://schemas.microsoft.com/office/powerpoint/2010/main" val="988026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8F94D5-B6E7-3536-2408-CB899FDE4317}"/>
              </a:ext>
            </a:extLst>
          </p:cNvPr>
          <p:cNvSpPr/>
          <p:nvPr/>
        </p:nvSpPr>
        <p:spPr>
          <a:xfrm>
            <a:off x="508000" y="431800"/>
            <a:ext cx="533400" cy="50800"/>
          </a:xfrm>
          <a:prstGeom prst="rect">
            <a:avLst/>
          </a:prstGeom>
          <a:solidFill>
            <a:srgbClr val="D765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959E62-340E-3D55-8915-3E6B97F4A2F6}"/>
              </a:ext>
            </a:extLst>
          </p:cNvPr>
          <p:cNvSpPr txBox="1"/>
          <p:nvPr/>
        </p:nvSpPr>
        <p:spPr>
          <a:xfrm>
            <a:off x="508000" y="622300"/>
            <a:ext cx="106680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000" b="1">
                <a:solidFill>
                  <a:srgbClr val="5E365F"/>
                </a:solidFill>
                <a:latin typeface="Aptos" panose="020B0004020202020204" pitchFamily="34" charset="0"/>
              </a:rPr>
              <a:t>0:25-1:10  |  CUSTOMER PROBLEM + EVIDENCE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8238D0-FB50-2A95-5272-43E082FA27D2}"/>
              </a:ext>
            </a:extLst>
          </p:cNvPr>
          <p:cNvSpPr txBox="1"/>
          <p:nvPr/>
        </p:nvSpPr>
        <p:spPr>
          <a:xfrm>
            <a:off x="508000" y="1054100"/>
            <a:ext cx="11176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2600">
                <a:solidFill>
                  <a:srgbClr val="20252B"/>
                </a:solidFill>
                <a:latin typeface="Georgia" panose="02040502050405020303" pitchFamily="18" charset="0"/>
              </a:rPr>
              <a:t>Career opportunities have a dress code. Access to the clothes is uneven.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20B5CF-84CA-1AC6-3566-54C8C0565C94}"/>
              </a:ext>
            </a:extLst>
          </p:cNvPr>
          <p:cNvSpPr/>
          <p:nvPr/>
        </p:nvSpPr>
        <p:spPr>
          <a:xfrm>
            <a:off x="508000" y="6350000"/>
            <a:ext cx="11176000" cy="12700"/>
          </a:xfrm>
          <a:prstGeom prst="rect">
            <a:avLst/>
          </a:prstGeom>
          <a:solidFill>
            <a:srgbClr val="D3CAB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BC6649-9393-1D01-06A7-6F017A6831EF}"/>
              </a:ext>
            </a:extLst>
          </p:cNvPr>
          <p:cNvSpPr txBox="1"/>
          <p:nvPr/>
        </p:nvSpPr>
        <p:spPr>
          <a:xfrm>
            <a:off x="508000" y="6451600"/>
            <a:ext cx="635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900" b="1">
                <a:solidFill>
                  <a:srgbClr val="6B7077"/>
                </a:solidFill>
                <a:latin typeface="Aptos" panose="020B0004020202020204" pitchFamily="34" charset="0"/>
              </a:rPr>
              <a:t>CAREERCLOSET  |  FINAL FUNDRAISING PITCH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E67A82-30CB-00DC-6E3D-8A13D2438B7B}"/>
              </a:ext>
            </a:extLst>
          </p:cNvPr>
          <p:cNvSpPr txBox="1"/>
          <p:nvPr/>
        </p:nvSpPr>
        <p:spPr>
          <a:xfrm>
            <a:off x="10896600" y="6451600"/>
            <a:ext cx="787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sz="900">
                <a:solidFill>
                  <a:srgbClr val="6B7077"/>
                </a:solidFill>
                <a:latin typeface="Aptos" panose="020B0004020202020204" pitchFamily="34" charset="0"/>
              </a:rPr>
              <a:t>2 / 12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3AE272D-884D-0A24-A8F8-0D4EE5D0945F}"/>
              </a:ext>
            </a:extLst>
          </p:cNvPr>
          <p:cNvSpPr/>
          <p:nvPr/>
        </p:nvSpPr>
        <p:spPr>
          <a:xfrm>
            <a:off x="508000" y="2451100"/>
            <a:ext cx="5334000" cy="3073400"/>
          </a:xfrm>
          <a:prstGeom prst="roundRect">
            <a:avLst/>
          </a:prstGeom>
          <a:solidFill>
            <a:srgbClr val="FFF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8B862D-6639-0445-50AE-369FAB8DB5EE}"/>
              </a:ext>
            </a:extLst>
          </p:cNvPr>
          <p:cNvSpPr/>
          <p:nvPr/>
        </p:nvSpPr>
        <p:spPr>
          <a:xfrm>
            <a:off x="508000" y="2451100"/>
            <a:ext cx="63500" cy="3073400"/>
          </a:xfrm>
          <a:prstGeom prst="rect">
            <a:avLst/>
          </a:prstGeom>
          <a:solidFill>
            <a:srgbClr val="D765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DA9F59-FC4A-2876-425A-0F205EFFB800}"/>
              </a:ext>
            </a:extLst>
          </p:cNvPr>
          <p:cNvSpPr txBox="1"/>
          <p:nvPr/>
        </p:nvSpPr>
        <p:spPr>
          <a:xfrm>
            <a:off x="736600" y="2667000"/>
            <a:ext cx="48768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5E365F"/>
                </a:solidFill>
                <a:latin typeface="Aptos" panose="020B0004020202020204" pitchFamily="34" charset="0"/>
              </a:rPr>
              <a:t>CUSTOMER HYPOTHESIS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8557F2-EF5E-13DE-E6CF-A09577F8AF64}"/>
              </a:ext>
            </a:extLst>
          </p:cNvPr>
          <p:cNvSpPr txBox="1"/>
          <p:nvPr/>
        </p:nvSpPr>
        <p:spPr>
          <a:xfrm>
            <a:off x="736600" y="3149600"/>
            <a:ext cx="4876800" cy="2209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800">
                <a:solidFill>
                  <a:srgbClr val="20252B"/>
                </a:solidFill>
                <a:latin typeface="Aptos" panose="020B0004020202020204" pitchFamily="34" charset="0"/>
              </a:rPr>
              <a:t>Students preparing for interviews, career fairs, and presentations need professional clothing without buying a full wardrobe.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0E40A8F-699F-D935-2D7D-910887A09A1D}"/>
              </a:ext>
            </a:extLst>
          </p:cNvPr>
          <p:cNvSpPr/>
          <p:nvPr/>
        </p:nvSpPr>
        <p:spPr>
          <a:xfrm>
            <a:off x="6096000" y="2451100"/>
            <a:ext cx="5588000" cy="3073400"/>
          </a:xfrm>
          <a:prstGeom prst="roundRect">
            <a:avLst/>
          </a:prstGeom>
          <a:solidFill>
            <a:srgbClr val="FFF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BA101E-3A12-B44F-6442-8B75105ECB1D}"/>
              </a:ext>
            </a:extLst>
          </p:cNvPr>
          <p:cNvSpPr/>
          <p:nvPr/>
        </p:nvSpPr>
        <p:spPr>
          <a:xfrm>
            <a:off x="6096000" y="2451100"/>
            <a:ext cx="63500" cy="3073400"/>
          </a:xfrm>
          <a:prstGeom prst="rect">
            <a:avLst/>
          </a:prstGeom>
          <a:solidFill>
            <a:srgbClr val="5E36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73294B-1D2D-DC79-75E0-EEA835825F60}"/>
              </a:ext>
            </a:extLst>
          </p:cNvPr>
          <p:cNvSpPr txBox="1"/>
          <p:nvPr/>
        </p:nvSpPr>
        <p:spPr>
          <a:xfrm>
            <a:off x="6324600" y="2667000"/>
            <a:ext cx="51308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5E365F"/>
                </a:solidFill>
                <a:latin typeface="Aptos" panose="020B0004020202020204" pitchFamily="34" charset="0"/>
              </a:rPr>
              <a:t>EVIDENCE BOUNDARY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95059B-DAB8-BADD-0A32-114A38739415}"/>
              </a:ext>
            </a:extLst>
          </p:cNvPr>
          <p:cNvSpPr txBox="1"/>
          <p:nvPr/>
        </p:nvSpPr>
        <p:spPr>
          <a:xfrm>
            <a:off x="6324600" y="3149600"/>
            <a:ext cx="5130800" cy="2209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800">
                <a:solidFill>
                  <a:srgbClr val="20252B"/>
                </a:solidFill>
                <a:latin typeface="Aptos" panose="020B0004020202020204" pitchFamily="34" charset="0"/>
              </a:rPr>
              <a:t>No CareerCloset interviews, paid rentals, or measured demand yet. This is a customer hypothesis, not traction.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0C7D68C-C2F0-B36C-67BC-842C527F1C65}"/>
              </a:ext>
            </a:extLst>
          </p:cNvPr>
          <p:cNvSpPr/>
          <p:nvPr/>
        </p:nvSpPr>
        <p:spPr>
          <a:xfrm>
            <a:off x="508000" y="5740400"/>
            <a:ext cx="11176000" cy="431800"/>
          </a:xfrm>
          <a:prstGeom prst="roundRect">
            <a:avLst/>
          </a:prstGeom>
          <a:solidFill>
            <a:srgbClr val="5E36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7CF11E-54CC-CAE8-E874-A73A0E2A0EDA}"/>
              </a:ext>
            </a:extLst>
          </p:cNvPr>
          <p:cNvSpPr txBox="1"/>
          <p:nvPr/>
        </p:nvSpPr>
        <p:spPr>
          <a:xfrm>
            <a:off x="711200" y="5842000"/>
            <a:ext cx="107950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300" b="1">
                <a:solidFill>
                  <a:srgbClr val="FFFDF8"/>
                </a:solidFill>
                <a:latin typeface="Aptos" panose="020B0004020202020204" pitchFamily="34" charset="0"/>
              </a:rPr>
              <a:t>FIRST TEST  |  30 student interviews on event frequency, alternatives, fit, and willingness to pay.</a:t>
            </a:r>
          </a:p>
        </p:txBody>
      </p:sp>
    </p:spTree>
    <p:extLst>
      <p:ext uri="{BB962C8B-B14F-4D97-AF65-F5344CB8AC3E}">
        <p14:creationId xmlns:p14="http://schemas.microsoft.com/office/powerpoint/2010/main" val="598957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BA319B-01D4-D402-CC71-A96B955280F0}"/>
              </a:ext>
            </a:extLst>
          </p:cNvPr>
          <p:cNvSpPr/>
          <p:nvPr/>
        </p:nvSpPr>
        <p:spPr>
          <a:xfrm>
            <a:off x="508000" y="431800"/>
            <a:ext cx="533400" cy="50800"/>
          </a:xfrm>
          <a:prstGeom prst="rect">
            <a:avLst/>
          </a:prstGeom>
          <a:solidFill>
            <a:srgbClr val="D765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BFE298-056E-81AF-9097-095639479762}"/>
              </a:ext>
            </a:extLst>
          </p:cNvPr>
          <p:cNvSpPr txBox="1"/>
          <p:nvPr/>
        </p:nvSpPr>
        <p:spPr>
          <a:xfrm>
            <a:off x="508000" y="622300"/>
            <a:ext cx="106680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000" b="1">
                <a:solidFill>
                  <a:srgbClr val="5E365F"/>
                </a:solidFill>
                <a:latin typeface="Aptos" panose="020B0004020202020204" pitchFamily="34" charset="0"/>
              </a:rPr>
              <a:t>1:10-1:50  |  PRODUCT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1FCF41-772D-A2A2-1D02-A7D2C0DCA637}"/>
              </a:ext>
            </a:extLst>
          </p:cNvPr>
          <p:cNvSpPr txBox="1"/>
          <p:nvPr/>
        </p:nvSpPr>
        <p:spPr>
          <a:xfrm>
            <a:off x="508000" y="1054100"/>
            <a:ext cx="11176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2900">
                <a:solidFill>
                  <a:srgbClr val="20252B"/>
                </a:solidFill>
                <a:latin typeface="Georgia" panose="02040502050405020303" pitchFamily="18" charset="0"/>
              </a:rPr>
              <a:t>Reserve an outfit for the event, then return it nearby.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22F722-B72E-0D28-E4E1-A43D40A5A008}"/>
              </a:ext>
            </a:extLst>
          </p:cNvPr>
          <p:cNvSpPr/>
          <p:nvPr/>
        </p:nvSpPr>
        <p:spPr>
          <a:xfrm>
            <a:off x="508000" y="6350000"/>
            <a:ext cx="11176000" cy="12700"/>
          </a:xfrm>
          <a:prstGeom prst="rect">
            <a:avLst/>
          </a:prstGeom>
          <a:solidFill>
            <a:srgbClr val="D3CAB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EA70FE-F4FE-6753-CD9F-12BBBDBE9907}"/>
              </a:ext>
            </a:extLst>
          </p:cNvPr>
          <p:cNvSpPr txBox="1"/>
          <p:nvPr/>
        </p:nvSpPr>
        <p:spPr>
          <a:xfrm>
            <a:off x="508000" y="6451600"/>
            <a:ext cx="635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900" b="1">
                <a:solidFill>
                  <a:srgbClr val="6B7077"/>
                </a:solidFill>
                <a:latin typeface="Aptos" panose="020B0004020202020204" pitchFamily="34" charset="0"/>
              </a:rPr>
              <a:t>CAREERCLOSET  |  FINAL FUNDRAISING PITCH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CA387F-6871-16F3-F390-E85B3019D566}"/>
              </a:ext>
            </a:extLst>
          </p:cNvPr>
          <p:cNvSpPr txBox="1"/>
          <p:nvPr/>
        </p:nvSpPr>
        <p:spPr>
          <a:xfrm>
            <a:off x="10896600" y="6451600"/>
            <a:ext cx="787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sz="900">
                <a:solidFill>
                  <a:srgbClr val="6B7077"/>
                </a:solidFill>
                <a:latin typeface="Aptos" panose="020B0004020202020204" pitchFamily="34" charset="0"/>
              </a:rPr>
              <a:t>3 / 12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2F4F3DC-03E3-B352-90FC-0FF9E9DD5E67}"/>
              </a:ext>
            </a:extLst>
          </p:cNvPr>
          <p:cNvSpPr/>
          <p:nvPr/>
        </p:nvSpPr>
        <p:spPr>
          <a:xfrm>
            <a:off x="508000" y="2501900"/>
            <a:ext cx="3492500" cy="2832100"/>
          </a:xfrm>
          <a:prstGeom prst="roundRect">
            <a:avLst/>
          </a:prstGeom>
          <a:solidFill>
            <a:srgbClr val="FFF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1E2995-019F-764C-EEFB-CEBC17C94B38}"/>
              </a:ext>
            </a:extLst>
          </p:cNvPr>
          <p:cNvSpPr/>
          <p:nvPr/>
        </p:nvSpPr>
        <p:spPr>
          <a:xfrm>
            <a:off x="508000" y="2501900"/>
            <a:ext cx="63500" cy="2832100"/>
          </a:xfrm>
          <a:prstGeom prst="rect">
            <a:avLst/>
          </a:prstGeom>
          <a:solidFill>
            <a:srgbClr val="D765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7E8565-AC96-B089-2D98-5C9D190B4D5E}"/>
              </a:ext>
            </a:extLst>
          </p:cNvPr>
          <p:cNvSpPr txBox="1"/>
          <p:nvPr/>
        </p:nvSpPr>
        <p:spPr>
          <a:xfrm>
            <a:off x="736600" y="2717800"/>
            <a:ext cx="30353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5E365F"/>
                </a:solidFill>
                <a:latin typeface="Aptos" panose="020B0004020202020204" pitchFamily="34" charset="0"/>
              </a:rPr>
              <a:t>01  |  CHOOSE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E7C4AA-3FBA-7596-45C8-F20EC3ADE6AB}"/>
              </a:ext>
            </a:extLst>
          </p:cNvPr>
          <p:cNvSpPr txBox="1"/>
          <p:nvPr/>
        </p:nvSpPr>
        <p:spPr>
          <a:xfrm>
            <a:off x="736600" y="3200400"/>
            <a:ext cx="3035300" cy="196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800">
                <a:solidFill>
                  <a:srgbClr val="20252B"/>
                </a:solidFill>
                <a:latin typeface="Aptos" panose="020B0004020202020204" pitchFamily="34" charset="0"/>
              </a:rPr>
              <a:t>Select size and event: interview, career fair, or presentation.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FCA37AC-AB2E-43B4-A465-F83750E61F60}"/>
              </a:ext>
            </a:extLst>
          </p:cNvPr>
          <p:cNvSpPr/>
          <p:nvPr/>
        </p:nvSpPr>
        <p:spPr>
          <a:xfrm>
            <a:off x="4343400" y="2501900"/>
            <a:ext cx="3492500" cy="2832100"/>
          </a:xfrm>
          <a:prstGeom prst="roundRect">
            <a:avLst/>
          </a:prstGeom>
          <a:solidFill>
            <a:srgbClr val="FFF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D02189-5833-EE1C-420C-C170A331AE88}"/>
              </a:ext>
            </a:extLst>
          </p:cNvPr>
          <p:cNvSpPr/>
          <p:nvPr/>
        </p:nvSpPr>
        <p:spPr>
          <a:xfrm>
            <a:off x="4343400" y="2501900"/>
            <a:ext cx="63500" cy="2832100"/>
          </a:xfrm>
          <a:prstGeom prst="rect">
            <a:avLst/>
          </a:prstGeom>
          <a:solidFill>
            <a:srgbClr val="5E36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B3F476-4B2D-969E-4D91-3A4CA66898C0}"/>
              </a:ext>
            </a:extLst>
          </p:cNvPr>
          <p:cNvSpPr txBox="1"/>
          <p:nvPr/>
        </p:nvSpPr>
        <p:spPr>
          <a:xfrm>
            <a:off x="4572000" y="2717800"/>
            <a:ext cx="30353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5E365F"/>
                </a:solidFill>
                <a:latin typeface="Aptos" panose="020B0004020202020204" pitchFamily="34" charset="0"/>
              </a:rPr>
              <a:t>02  |  RESERVE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D9D856-07E6-5727-E7C6-859B56E577BC}"/>
              </a:ext>
            </a:extLst>
          </p:cNvPr>
          <p:cNvSpPr txBox="1"/>
          <p:nvPr/>
        </p:nvSpPr>
        <p:spPr>
          <a:xfrm>
            <a:off x="4572000" y="3200400"/>
            <a:ext cx="3035300" cy="196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800">
                <a:solidFill>
                  <a:srgbClr val="20252B"/>
                </a:solidFill>
                <a:latin typeface="Aptos" panose="020B0004020202020204" pitchFamily="34" charset="0"/>
              </a:rPr>
              <a:t>Book online and choose from available curated outfit bundles.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5D8E07B-3B92-7D2D-819F-57DCDD4CCE82}"/>
              </a:ext>
            </a:extLst>
          </p:cNvPr>
          <p:cNvSpPr/>
          <p:nvPr/>
        </p:nvSpPr>
        <p:spPr>
          <a:xfrm>
            <a:off x="8178800" y="2501900"/>
            <a:ext cx="3505200" cy="2832100"/>
          </a:xfrm>
          <a:prstGeom prst="roundRect">
            <a:avLst/>
          </a:prstGeom>
          <a:solidFill>
            <a:srgbClr val="FFF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31BFAE-1CF2-AC6B-60B4-FF87D426B6AF}"/>
              </a:ext>
            </a:extLst>
          </p:cNvPr>
          <p:cNvSpPr/>
          <p:nvPr/>
        </p:nvSpPr>
        <p:spPr>
          <a:xfrm>
            <a:off x="8178800" y="2501900"/>
            <a:ext cx="63500" cy="2832100"/>
          </a:xfrm>
          <a:prstGeom prst="rect">
            <a:avLst/>
          </a:prstGeom>
          <a:solidFill>
            <a:srgbClr val="D2A6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6BEB3D-96DE-1C7F-DD19-6BD9EF9016B6}"/>
              </a:ext>
            </a:extLst>
          </p:cNvPr>
          <p:cNvSpPr txBox="1"/>
          <p:nvPr/>
        </p:nvSpPr>
        <p:spPr>
          <a:xfrm>
            <a:off x="8407400" y="2717800"/>
            <a:ext cx="30480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5E365F"/>
                </a:solidFill>
                <a:latin typeface="Aptos" panose="020B0004020202020204" pitchFamily="34" charset="0"/>
              </a:rPr>
              <a:t>03  |  PICK UP + RETURN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D5D71C-CEA6-2437-F3BE-118599871FCF}"/>
              </a:ext>
            </a:extLst>
          </p:cNvPr>
          <p:cNvSpPr txBox="1"/>
          <p:nvPr/>
        </p:nvSpPr>
        <p:spPr>
          <a:xfrm>
            <a:off x="8407400" y="3200400"/>
            <a:ext cx="3048000" cy="196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700">
                <a:solidFill>
                  <a:srgbClr val="20252B"/>
                </a:solidFill>
                <a:latin typeface="Aptos" panose="020B0004020202020204" pitchFamily="34" charset="0"/>
              </a:rPr>
              <a:t>Use scheduled campus windows. Document condition and track each return.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32CFF1-C3DC-C7ED-114D-41F35CF8C80D}"/>
              </a:ext>
            </a:extLst>
          </p:cNvPr>
          <p:cNvSpPr txBox="1"/>
          <p:nvPr/>
        </p:nvSpPr>
        <p:spPr>
          <a:xfrm>
            <a:off x="609600" y="5664200"/>
            <a:ext cx="107950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400">
                <a:solidFill>
                  <a:srgbClr val="6B7077"/>
                </a:solidFill>
                <a:latin typeface="Aptos" panose="020B0004020202020204" pitchFamily="34" charset="0"/>
              </a:rPr>
              <a:t>Pilot controls to test: deposits or card authorization, cleaning, and clear return windows.</a:t>
            </a:r>
          </a:p>
        </p:txBody>
      </p:sp>
    </p:spTree>
    <p:extLst>
      <p:ext uri="{BB962C8B-B14F-4D97-AF65-F5344CB8AC3E}">
        <p14:creationId xmlns:p14="http://schemas.microsoft.com/office/powerpoint/2010/main" val="2201044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4F4178-5B71-5988-04D2-223914D5500A}"/>
              </a:ext>
            </a:extLst>
          </p:cNvPr>
          <p:cNvSpPr/>
          <p:nvPr/>
        </p:nvSpPr>
        <p:spPr>
          <a:xfrm>
            <a:off x="508000" y="431800"/>
            <a:ext cx="533400" cy="50800"/>
          </a:xfrm>
          <a:prstGeom prst="rect">
            <a:avLst/>
          </a:prstGeom>
          <a:solidFill>
            <a:srgbClr val="D765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4DC572-5717-B709-A6FD-EFA5837B72D5}"/>
              </a:ext>
            </a:extLst>
          </p:cNvPr>
          <p:cNvSpPr txBox="1"/>
          <p:nvPr/>
        </p:nvSpPr>
        <p:spPr>
          <a:xfrm>
            <a:off x="508000" y="622300"/>
            <a:ext cx="106680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000" b="1">
                <a:solidFill>
                  <a:srgbClr val="5E365F"/>
                </a:solidFill>
                <a:latin typeface="Aptos" panose="020B0004020202020204" pitchFamily="34" charset="0"/>
              </a:rPr>
              <a:t>1:50-2:25  |  BEACHHEAD + VALIDATION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0D8265-7CD3-F140-98F4-54DC26FC6803}"/>
              </a:ext>
            </a:extLst>
          </p:cNvPr>
          <p:cNvSpPr txBox="1"/>
          <p:nvPr/>
        </p:nvSpPr>
        <p:spPr>
          <a:xfrm>
            <a:off x="508000" y="1054100"/>
            <a:ext cx="11176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2600">
                <a:solidFill>
                  <a:srgbClr val="20252B"/>
                </a:solidFill>
                <a:latin typeface="Georgia" panose="02040502050405020303" pitchFamily="18" charset="0"/>
              </a:rPr>
              <a:t>Start with one campus and one trusted distribution partner.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F5DA94-83AB-FCBD-DEDA-A09BEE25C678}"/>
              </a:ext>
            </a:extLst>
          </p:cNvPr>
          <p:cNvSpPr/>
          <p:nvPr/>
        </p:nvSpPr>
        <p:spPr>
          <a:xfrm>
            <a:off x="508000" y="6350000"/>
            <a:ext cx="11176000" cy="12700"/>
          </a:xfrm>
          <a:prstGeom prst="rect">
            <a:avLst/>
          </a:prstGeom>
          <a:solidFill>
            <a:srgbClr val="D3CAB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79056E-521C-16DC-57B1-22F6BC552059}"/>
              </a:ext>
            </a:extLst>
          </p:cNvPr>
          <p:cNvSpPr txBox="1"/>
          <p:nvPr/>
        </p:nvSpPr>
        <p:spPr>
          <a:xfrm>
            <a:off x="508000" y="6451600"/>
            <a:ext cx="635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900" b="1">
                <a:solidFill>
                  <a:srgbClr val="6B7077"/>
                </a:solidFill>
                <a:latin typeface="Aptos" panose="020B0004020202020204" pitchFamily="34" charset="0"/>
              </a:rPr>
              <a:t>CAREERCLOSET  |  FINAL FUNDRAISING PITCH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59D27B-DFD7-C633-7D09-94F692042097}"/>
              </a:ext>
            </a:extLst>
          </p:cNvPr>
          <p:cNvSpPr txBox="1"/>
          <p:nvPr/>
        </p:nvSpPr>
        <p:spPr>
          <a:xfrm>
            <a:off x="10896600" y="6451600"/>
            <a:ext cx="787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sz="900">
                <a:solidFill>
                  <a:srgbClr val="6B7077"/>
                </a:solidFill>
                <a:latin typeface="Aptos" panose="020B0004020202020204" pitchFamily="34" charset="0"/>
              </a:rPr>
              <a:t>4 / 12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3CB2FD2-92D2-744A-0290-E883D724D62A}"/>
              </a:ext>
            </a:extLst>
          </p:cNvPr>
          <p:cNvSpPr/>
          <p:nvPr/>
        </p:nvSpPr>
        <p:spPr>
          <a:xfrm>
            <a:off x="508000" y="2501900"/>
            <a:ext cx="3492500" cy="2832100"/>
          </a:xfrm>
          <a:prstGeom prst="roundRect">
            <a:avLst/>
          </a:prstGeom>
          <a:solidFill>
            <a:srgbClr val="FFF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F1A996-AEB2-F2E1-51F1-BED202D9E6AD}"/>
              </a:ext>
            </a:extLst>
          </p:cNvPr>
          <p:cNvSpPr/>
          <p:nvPr/>
        </p:nvSpPr>
        <p:spPr>
          <a:xfrm>
            <a:off x="508000" y="2501900"/>
            <a:ext cx="63500" cy="2832100"/>
          </a:xfrm>
          <a:prstGeom prst="rect">
            <a:avLst/>
          </a:prstGeom>
          <a:solidFill>
            <a:srgbClr val="D765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508DC3-3A20-B0D6-452A-FCD81ABFC8F8}"/>
              </a:ext>
            </a:extLst>
          </p:cNvPr>
          <p:cNvSpPr txBox="1"/>
          <p:nvPr/>
        </p:nvSpPr>
        <p:spPr>
          <a:xfrm>
            <a:off x="736600" y="2717800"/>
            <a:ext cx="30353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5E365F"/>
                </a:solidFill>
                <a:latin typeface="Aptos" panose="020B0004020202020204" pitchFamily="34" charset="0"/>
              </a:rPr>
              <a:t>BEACHHEAD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F89C93-49DF-F377-AFC9-2A7753A3A194}"/>
              </a:ext>
            </a:extLst>
          </p:cNvPr>
          <p:cNvSpPr txBox="1"/>
          <p:nvPr/>
        </p:nvSpPr>
        <p:spPr>
          <a:xfrm>
            <a:off x="736600" y="3200400"/>
            <a:ext cx="3035300" cy="196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700">
                <a:solidFill>
                  <a:srgbClr val="20252B"/>
                </a:solidFill>
                <a:latin typeface="Aptos" panose="020B0004020202020204" pitchFamily="34" charset="0"/>
              </a:rPr>
              <a:t>One assumed campus of 10,000 students, with recurring interview and career-fair demand.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0B6A493-D271-74BF-98AE-49D3473662AE}"/>
              </a:ext>
            </a:extLst>
          </p:cNvPr>
          <p:cNvSpPr/>
          <p:nvPr/>
        </p:nvSpPr>
        <p:spPr>
          <a:xfrm>
            <a:off x="4343400" y="2501900"/>
            <a:ext cx="3492500" cy="2832100"/>
          </a:xfrm>
          <a:prstGeom prst="roundRect">
            <a:avLst/>
          </a:prstGeom>
          <a:solidFill>
            <a:srgbClr val="FFF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3B4B3A-9D01-B19F-B660-63C7984E2C6A}"/>
              </a:ext>
            </a:extLst>
          </p:cNvPr>
          <p:cNvSpPr/>
          <p:nvPr/>
        </p:nvSpPr>
        <p:spPr>
          <a:xfrm>
            <a:off x="4343400" y="2501900"/>
            <a:ext cx="63500" cy="2832100"/>
          </a:xfrm>
          <a:prstGeom prst="rect">
            <a:avLst/>
          </a:prstGeom>
          <a:solidFill>
            <a:srgbClr val="5E36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9638F0-FB6B-4E29-4D42-80D96C332619}"/>
              </a:ext>
            </a:extLst>
          </p:cNvPr>
          <p:cNvSpPr txBox="1"/>
          <p:nvPr/>
        </p:nvSpPr>
        <p:spPr>
          <a:xfrm>
            <a:off x="4572000" y="2717800"/>
            <a:ext cx="30353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5E365F"/>
                </a:solidFill>
                <a:latin typeface="Aptos" panose="020B0004020202020204" pitchFamily="34" charset="0"/>
              </a:rPr>
              <a:t>REACH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031E1E-B3FC-10E2-ED0E-DA23A5E5BC79}"/>
              </a:ext>
            </a:extLst>
          </p:cNvPr>
          <p:cNvSpPr txBox="1"/>
          <p:nvPr/>
        </p:nvSpPr>
        <p:spPr>
          <a:xfrm>
            <a:off x="4572000" y="3200400"/>
            <a:ext cx="3035300" cy="196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600">
                <a:solidFill>
                  <a:srgbClr val="20252B"/>
                </a:solidFill>
                <a:latin typeface="Aptos" panose="020B0004020202020204" pitchFamily="34" charset="0"/>
              </a:rPr>
              <a:t>Approach a career center first. Student organizations and employers may extend reach; no partners are confirmed.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6FE0669-364A-F1A2-CD87-87F125DD42A0}"/>
              </a:ext>
            </a:extLst>
          </p:cNvPr>
          <p:cNvSpPr/>
          <p:nvPr/>
        </p:nvSpPr>
        <p:spPr>
          <a:xfrm>
            <a:off x="8178800" y="2501900"/>
            <a:ext cx="3505200" cy="2832100"/>
          </a:xfrm>
          <a:prstGeom prst="roundRect">
            <a:avLst/>
          </a:prstGeom>
          <a:solidFill>
            <a:srgbClr val="FFF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5278E7-EF1E-A903-6BB1-6545AC3A5231}"/>
              </a:ext>
            </a:extLst>
          </p:cNvPr>
          <p:cNvSpPr/>
          <p:nvPr/>
        </p:nvSpPr>
        <p:spPr>
          <a:xfrm>
            <a:off x="8178800" y="2501900"/>
            <a:ext cx="63500" cy="2832100"/>
          </a:xfrm>
          <a:prstGeom prst="rect">
            <a:avLst/>
          </a:prstGeom>
          <a:solidFill>
            <a:srgbClr val="D2A6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1F56D9-817B-FFBA-F1AC-BABD8CD16D31}"/>
              </a:ext>
            </a:extLst>
          </p:cNvPr>
          <p:cNvSpPr txBox="1"/>
          <p:nvPr/>
        </p:nvSpPr>
        <p:spPr>
          <a:xfrm>
            <a:off x="8407400" y="2717800"/>
            <a:ext cx="30480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5E365F"/>
                </a:solidFill>
                <a:latin typeface="Aptos" panose="020B0004020202020204" pitchFamily="34" charset="0"/>
              </a:rPr>
              <a:t>WHAT WE MUST LEARN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80F4DA-F594-E8D0-D7AB-C114DA4B2527}"/>
              </a:ext>
            </a:extLst>
          </p:cNvPr>
          <p:cNvSpPr txBox="1"/>
          <p:nvPr/>
        </p:nvSpPr>
        <p:spPr>
          <a:xfrm>
            <a:off x="8407400" y="3200400"/>
            <a:ext cx="3048000" cy="196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700">
                <a:solidFill>
                  <a:srgbClr val="20252B"/>
                </a:solidFill>
                <a:latin typeface="Aptos" panose="020B0004020202020204" pitchFamily="34" charset="0"/>
              </a:rPr>
              <a:t>Which sizes turn, what students will pay, whether fit works, and whether returns are reliable.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8263B1-0556-83CC-A7B8-03DDC2923D9F}"/>
              </a:ext>
            </a:extLst>
          </p:cNvPr>
          <p:cNvSpPr txBox="1"/>
          <p:nvPr/>
        </p:nvSpPr>
        <p:spPr>
          <a:xfrm>
            <a:off x="609600" y="5664200"/>
            <a:ext cx="10795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300">
                <a:solidFill>
                  <a:srgbClr val="6B7077"/>
                </a:solidFill>
                <a:latin typeface="Aptos" panose="020B0004020202020204" pitchFamily="34" charset="0"/>
              </a:rPr>
              <a:t>Campus size and partner access are planning assumptions, not sourced market measurements.</a:t>
            </a:r>
          </a:p>
        </p:txBody>
      </p:sp>
    </p:spTree>
    <p:extLst>
      <p:ext uri="{BB962C8B-B14F-4D97-AF65-F5344CB8AC3E}">
        <p14:creationId xmlns:p14="http://schemas.microsoft.com/office/powerpoint/2010/main" val="2881618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9C9404-E83F-FD1A-DC71-22827C300699}"/>
              </a:ext>
            </a:extLst>
          </p:cNvPr>
          <p:cNvSpPr/>
          <p:nvPr/>
        </p:nvSpPr>
        <p:spPr>
          <a:xfrm>
            <a:off x="508000" y="431800"/>
            <a:ext cx="533400" cy="50800"/>
          </a:xfrm>
          <a:prstGeom prst="rect">
            <a:avLst/>
          </a:prstGeom>
          <a:solidFill>
            <a:srgbClr val="D765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03ABBA-9B14-6B44-622E-3C78E967EB13}"/>
              </a:ext>
            </a:extLst>
          </p:cNvPr>
          <p:cNvSpPr txBox="1"/>
          <p:nvPr/>
        </p:nvSpPr>
        <p:spPr>
          <a:xfrm>
            <a:off x="508000" y="622300"/>
            <a:ext cx="106680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000" b="1">
                <a:solidFill>
                  <a:srgbClr val="5E365F"/>
                </a:solidFill>
                <a:latin typeface="Aptos" panose="020B0004020202020204" pitchFamily="34" charset="0"/>
              </a:rPr>
              <a:t>2:25-3:15  |  BUSINESS MODEL + UNIT ECONOMICS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647587-A2C5-1D22-14ED-D0A0E04BB38D}"/>
              </a:ext>
            </a:extLst>
          </p:cNvPr>
          <p:cNvSpPr txBox="1"/>
          <p:nvPr/>
        </p:nvSpPr>
        <p:spPr>
          <a:xfrm>
            <a:off x="508000" y="1054100"/>
            <a:ext cx="11176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2900">
                <a:solidFill>
                  <a:srgbClr val="20252B"/>
                </a:solidFill>
                <a:latin typeface="Georgia" panose="02040502050405020303" pitchFamily="18" charset="0"/>
              </a:rPr>
              <a:t>One rental has a simple, testable contribution equation.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7D2E99-9061-0136-CC3A-C0C2CDF8470D}"/>
              </a:ext>
            </a:extLst>
          </p:cNvPr>
          <p:cNvSpPr/>
          <p:nvPr/>
        </p:nvSpPr>
        <p:spPr>
          <a:xfrm>
            <a:off x="508000" y="6350000"/>
            <a:ext cx="11176000" cy="12700"/>
          </a:xfrm>
          <a:prstGeom prst="rect">
            <a:avLst/>
          </a:prstGeom>
          <a:solidFill>
            <a:srgbClr val="D3CAB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212A5F-7CA7-F752-E709-B8D637374D97}"/>
              </a:ext>
            </a:extLst>
          </p:cNvPr>
          <p:cNvSpPr txBox="1"/>
          <p:nvPr/>
        </p:nvSpPr>
        <p:spPr>
          <a:xfrm>
            <a:off x="508000" y="6451600"/>
            <a:ext cx="635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900" b="1">
                <a:solidFill>
                  <a:srgbClr val="6B7077"/>
                </a:solidFill>
                <a:latin typeface="Aptos" panose="020B0004020202020204" pitchFamily="34" charset="0"/>
              </a:rPr>
              <a:t>CAREERCLOSET  |  FINAL FUNDRAISING PITCH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A0B820-1971-B4D1-6656-D50F70D4BA70}"/>
              </a:ext>
            </a:extLst>
          </p:cNvPr>
          <p:cNvSpPr txBox="1"/>
          <p:nvPr/>
        </p:nvSpPr>
        <p:spPr>
          <a:xfrm>
            <a:off x="10896600" y="6451600"/>
            <a:ext cx="787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sz="900">
                <a:solidFill>
                  <a:srgbClr val="6B7077"/>
                </a:solidFill>
                <a:latin typeface="Aptos" panose="020B0004020202020204" pitchFamily="34" charset="0"/>
              </a:rPr>
              <a:t>5 / 12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715D86C-DF08-9769-4BF7-01F1CB74597D}"/>
              </a:ext>
            </a:extLst>
          </p:cNvPr>
          <p:cNvSpPr/>
          <p:nvPr/>
        </p:nvSpPr>
        <p:spPr>
          <a:xfrm>
            <a:off x="508000" y="2667000"/>
            <a:ext cx="2603500" cy="2311400"/>
          </a:xfrm>
          <a:prstGeom prst="roundRect">
            <a:avLst/>
          </a:prstGeom>
          <a:solidFill>
            <a:srgbClr val="FFF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0017A8-0A30-6DC7-4720-4901D1E1782C}"/>
              </a:ext>
            </a:extLst>
          </p:cNvPr>
          <p:cNvSpPr txBox="1"/>
          <p:nvPr/>
        </p:nvSpPr>
        <p:spPr>
          <a:xfrm>
            <a:off x="685800" y="2908300"/>
            <a:ext cx="22479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100" b="1">
                <a:solidFill>
                  <a:srgbClr val="5E365F"/>
                </a:solidFill>
                <a:latin typeface="Aptos" panose="020B0004020202020204" pitchFamily="34" charset="0"/>
              </a:rPr>
              <a:t>RENTAL PRICE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56EA61-F9F7-BD7B-9DC6-8F35E9150B4D}"/>
              </a:ext>
            </a:extLst>
          </p:cNvPr>
          <p:cNvSpPr txBox="1"/>
          <p:nvPr/>
        </p:nvSpPr>
        <p:spPr>
          <a:xfrm>
            <a:off x="685800" y="3479800"/>
            <a:ext cx="22479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3000" b="1">
                <a:solidFill>
                  <a:srgbClr val="D7654C"/>
                </a:solidFill>
                <a:latin typeface="Georgia" panose="02040502050405020303" pitchFamily="18" charset="0"/>
              </a:rPr>
              <a:t>$29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9F3FB3-13EA-DED3-8232-745484C41258}"/>
              </a:ext>
            </a:extLst>
          </p:cNvPr>
          <p:cNvSpPr txBox="1"/>
          <p:nvPr/>
        </p:nvSpPr>
        <p:spPr>
          <a:xfrm>
            <a:off x="685800" y="4279900"/>
            <a:ext cx="22479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300">
                <a:solidFill>
                  <a:srgbClr val="6B7077"/>
                </a:solidFill>
                <a:latin typeface="Aptos" panose="020B0004020202020204" pitchFamily="34" charset="0"/>
              </a:rPr>
              <a:t>assumption / event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235D084-4BFD-84C9-0902-F65879B414F3}"/>
              </a:ext>
            </a:extLst>
          </p:cNvPr>
          <p:cNvSpPr/>
          <p:nvPr/>
        </p:nvSpPr>
        <p:spPr>
          <a:xfrm>
            <a:off x="3365500" y="2667000"/>
            <a:ext cx="2603500" cy="2311400"/>
          </a:xfrm>
          <a:prstGeom prst="roundRect">
            <a:avLst/>
          </a:prstGeom>
          <a:solidFill>
            <a:srgbClr val="FFF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07A725-6A58-227D-2D61-045F2A520D90}"/>
              </a:ext>
            </a:extLst>
          </p:cNvPr>
          <p:cNvSpPr txBox="1"/>
          <p:nvPr/>
        </p:nvSpPr>
        <p:spPr>
          <a:xfrm>
            <a:off x="3543300" y="2908300"/>
            <a:ext cx="22479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100" b="1">
                <a:solidFill>
                  <a:srgbClr val="5E365F"/>
                </a:solidFill>
                <a:latin typeface="Aptos" panose="020B0004020202020204" pitchFamily="34" charset="0"/>
              </a:rPr>
              <a:t>CLEANING + HANDLING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FEEF65-4BD0-7531-8E91-A0A2867078FF}"/>
              </a:ext>
            </a:extLst>
          </p:cNvPr>
          <p:cNvSpPr txBox="1"/>
          <p:nvPr/>
        </p:nvSpPr>
        <p:spPr>
          <a:xfrm>
            <a:off x="3543300" y="3479800"/>
            <a:ext cx="22479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3000" b="1">
                <a:solidFill>
                  <a:srgbClr val="5E365F"/>
                </a:solidFill>
                <a:latin typeface="Georgia" panose="02040502050405020303" pitchFamily="18" charset="0"/>
              </a:rPr>
              <a:t>-$8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71853B-0992-632C-31EC-0F9D123E68FE}"/>
              </a:ext>
            </a:extLst>
          </p:cNvPr>
          <p:cNvSpPr txBox="1"/>
          <p:nvPr/>
        </p:nvSpPr>
        <p:spPr>
          <a:xfrm>
            <a:off x="3543300" y="4279900"/>
            <a:ext cx="22479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300">
                <a:solidFill>
                  <a:srgbClr val="6B7077"/>
                </a:solidFill>
                <a:latin typeface="Aptos" panose="020B0004020202020204" pitchFamily="34" charset="0"/>
              </a:rPr>
              <a:t>assumption / rental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708BE92-86AA-0FFD-9D6B-F6A553A74A91}"/>
              </a:ext>
            </a:extLst>
          </p:cNvPr>
          <p:cNvSpPr/>
          <p:nvPr/>
        </p:nvSpPr>
        <p:spPr>
          <a:xfrm>
            <a:off x="6223000" y="2667000"/>
            <a:ext cx="2603500" cy="2311400"/>
          </a:xfrm>
          <a:prstGeom prst="roundRect">
            <a:avLst/>
          </a:prstGeom>
          <a:solidFill>
            <a:srgbClr val="FFF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688120-4389-FE52-89BE-42DBC1F40610}"/>
              </a:ext>
            </a:extLst>
          </p:cNvPr>
          <p:cNvSpPr txBox="1"/>
          <p:nvPr/>
        </p:nvSpPr>
        <p:spPr>
          <a:xfrm>
            <a:off x="6400800" y="2908300"/>
            <a:ext cx="22479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100" b="1">
                <a:solidFill>
                  <a:srgbClr val="5E365F"/>
                </a:solidFill>
                <a:latin typeface="Aptos" panose="020B0004020202020204" pitchFamily="34" charset="0"/>
              </a:rPr>
              <a:t>CONTRIBUTION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B63A58-60B0-2A7C-FEDB-C5F41F1D2D88}"/>
              </a:ext>
            </a:extLst>
          </p:cNvPr>
          <p:cNvSpPr txBox="1"/>
          <p:nvPr/>
        </p:nvSpPr>
        <p:spPr>
          <a:xfrm>
            <a:off x="6400800" y="3479800"/>
            <a:ext cx="22479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3000" b="1">
                <a:solidFill>
                  <a:srgbClr val="D7654C"/>
                </a:solidFill>
                <a:latin typeface="Georgia" panose="02040502050405020303" pitchFamily="18" charset="0"/>
              </a:rPr>
              <a:t>$21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5B9636-7913-E5B0-CCE6-DEE85C2F0628}"/>
              </a:ext>
            </a:extLst>
          </p:cNvPr>
          <p:cNvSpPr txBox="1"/>
          <p:nvPr/>
        </p:nvSpPr>
        <p:spPr>
          <a:xfrm>
            <a:off x="6400800" y="4279900"/>
            <a:ext cx="22479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300">
                <a:solidFill>
                  <a:srgbClr val="6B7077"/>
                </a:solidFill>
                <a:latin typeface="Aptos" panose="020B0004020202020204" pitchFamily="34" charset="0"/>
              </a:rPr>
              <a:t>before fixed costs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DA7D2B9-4847-4254-6D5F-57908A8E77A9}"/>
              </a:ext>
            </a:extLst>
          </p:cNvPr>
          <p:cNvSpPr/>
          <p:nvPr/>
        </p:nvSpPr>
        <p:spPr>
          <a:xfrm>
            <a:off x="9080500" y="2667000"/>
            <a:ext cx="2603500" cy="2311400"/>
          </a:xfrm>
          <a:prstGeom prst="roundRect">
            <a:avLst/>
          </a:prstGeom>
          <a:solidFill>
            <a:srgbClr val="FFF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91565E-08E0-F748-B31C-EEA108DCD13A}"/>
              </a:ext>
            </a:extLst>
          </p:cNvPr>
          <p:cNvSpPr txBox="1"/>
          <p:nvPr/>
        </p:nvSpPr>
        <p:spPr>
          <a:xfrm>
            <a:off x="9258300" y="2908300"/>
            <a:ext cx="22479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100" b="1">
                <a:solidFill>
                  <a:srgbClr val="5E365F"/>
                </a:solidFill>
                <a:latin typeface="Aptos" panose="020B0004020202020204" pitchFamily="34" charset="0"/>
              </a:rPr>
              <a:t>SEMESTER MEMBERSHIP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3C2C85-3AA1-9016-6244-AC33A673BB08}"/>
              </a:ext>
            </a:extLst>
          </p:cNvPr>
          <p:cNvSpPr txBox="1"/>
          <p:nvPr/>
        </p:nvSpPr>
        <p:spPr>
          <a:xfrm>
            <a:off x="9258300" y="3479800"/>
            <a:ext cx="22479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3000" b="1">
                <a:solidFill>
                  <a:srgbClr val="5E365F"/>
                </a:solidFill>
                <a:latin typeface="Georgia" panose="02040502050405020303" pitchFamily="18" charset="0"/>
              </a:rPr>
              <a:t>$79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BB9B9F-436A-9C4A-ACC5-08AC552D51F6}"/>
              </a:ext>
            </a:extLst>
          </p:cNvPr>
          <p:cNvSpPr txBox="1"/>
          <p:nvPr/>
        </p:nvSpPr>
        <p:spPr>
          <a:xfrm>
            <a:off x="9258300" y="4279900"/>
            <a:ext cx="22479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300">
                <a:solidFill>
                  <a:srgbClr val="6B7077"/>
                </a:solidFill>
                <a:latin typeface="Aptos" panose="020B0004020202020204" pitchFamily="34" charset="0"/>
              </a:rPr>
              <a:t>assumption; not validated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D63662-2122-EFD5-7FE7-990036593B24}"/>
              </a:ext>
            </a:extLst>
          </p:cNvPr>
          <p:cNvSpPr txBox="1"/>
          <p:nvPr/>
        </p:nvSpPr>
        <p:spPr>
          <a:xfrm>
            <a:off x="609600" y="5308600"/>
            <a:ext cx="107950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500">
                <a:solidFill>
                  <a:srgbClr val="20252B"/>
                </a:solidFill>
                <a:latin typeface="Aptos" panose="020B0004020202020204" pitchFamily="34" charset="0"/>
              </a:rPr>
              <a:t>Potential sponsor revenue is uncommitted. Measure price acceptance, actual cleaning cost, damage, utilization, and repeat use.</a:t>
            </a:r>
          </a:p>
        </p:txBody>
      </p:sp>
    </p:spTree>
    <p:extLst>
      <p:ext uri="{BB962C8B-B14F-4D97-AF65-F5344CB8AC3E}">
        <p14:creationId xmlns:p14="http://schemas.microsoft.com/office/powerpoint/2010/main" val="439648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38E491-DC54-888E-F059-2D6907FEE5DF}"/>
              </a:ext>
            </a:extLst>
          </p:cNvPr>
          <p:cNvSpPr/>
          <p:nvPr/>
        </p:nvSpPr>
        <p:spPr>
          <a:xfrm>
            <a:off x="508000" y="431800"/>
            <a:ext cx="533400" cy="50800"/>
          </a:xfrm>
          <a:prstGeom prst="rect">
            <a:avLst/>
          </a:prstGeom>
          <a:solidFill>
            <a:srgbClr val="D765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F27548-3841-E121-5BAD-F11AE14421DE}"/>
              </a:ext>
            </a:extLst>
          </p:cNvPr>
          <p:cNvSpPr txBox="1"/>
          <p:nvPr/>
        </p:nvSpPr>
        <p:spPr>
          <a:xfrm>
            <a:off x="508000" y="622300"/>
            <a:ext cx="106680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000" b="1">
                <a:solidFill>
                  <a:srgbClr val="5E365F"/>
                </a:solidFill>
                <a:latin typeface="Aptos" panose="020B0004020202020204" pitchFamily="34" charset="0"/>
              </a:rPr>
              <a:t>3:15-4:05  |  ASK + PROPOSED TERMS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F6EC70-D3EB-D8EB-32DC-B51E78C92AB9}"/>
              </a:ext>
            </a:extLst>
          </p:cNvPr>
          <p:cNvSpPr txBox="1"/>
          <p:nvPr/>
        </p:nvSpPr>
        <p:spPr>
          <a:xfrm>
            <a:off x="508000" y="1054100"/>
            <a:ext cx="11176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2900">
                <a:solidFill>
                  <a:srgbClr val="20252B"/>
                </a:solidFill>
                <a:latin typeface="Georgia" panose="02040502050405020303" pitchFamily="18" charset="0"/>
              </a:rPr>
              <a:t>The ask is $15,000 for a six-month validation round.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7092F6-C150-E399-8687-166AE2471410}"/>
              </a:ext>
            </a:extLst>
          </p:cNvPr>
          <p:cNvSpPr/>
          <p:nvPr/>
        </p:nvSpPr>
        <p:spPr>
          <a:xfrm>
            <a:off x="508000" y="6350000"/>
            <a:ext cx="11176000" cy="12700"/>
          </a:xfrm>
          <a:prstGeom prst="rect">
            <a:avLst/>
          </a:prstGeom>
          <a:solidFill>
            <a:srgbClr val="D3CAB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CA1FB9-A8D5-D3D1-47E6-222678C1B78B}"/>
              </a:ext>
            </a:extLst>
          </p:cNvPr>
          <p:cNvSpPr txBox="1"/>
          <p:nvPr/>
        </p:nvSpPr>
        <p:spPr>
          <a:xfrm>
            <a:off x="508000" y="6451600"/>
            <a:ext cx="635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900" b="1">
                <a:solidFill>
                  <a:srgbClr val="6B7077"/>
                </a:solidFill>
                <a:latin typeface="Aptos" panose="020B0004020202020204" pitchFamily="34" charset="0"/>
              </a:rPr>
              <a:t>CAREERCLOSET  |  FINAL FUNDRAISING PITCH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1B5C45-5B76-145D-430D-D4B5F0B228AD}"/>
              </a:ext>
            </a:extLst>
          </p:cNvPr>
          <p:cNvSpPr txBox="1"/>
          <p:nvPr/>
        </p:nvSpPr>
        <p:spPr>
          <a:xfrm>
            <a:off x="10896600" y="6451600"/>
            <a:ext cx="787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sz="900">
                <a:solidFill>
                  <a:srgbClr val="6B7077"/>
                </a:solidFill>
                <a:latin typeface="Aptos" panose="020B0004020202020204" pitchFamily="34" charset="0"/>
              </a:rPr>
              <a:t>6 / 12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51AE974-CB30-B87D-3A0F-ADF79E4074C4}"/>
              </a:ext>
            </a:extLst>
          </p:cNvPr>
          <p:cNvSpPr/>
          <p:nvPr/>
        </p:nvSpPr>
        <p:spPr>
          <a:xfrm>
            <a:off x="508000" y="2501900"/>
            <a:ext cx="4000500" cy="3048000"/>
          </a:xfrm>
          <a:prstGeom prst="roundRect">
            <a:avLst/>
          </a:prstGeom>
          <a:solidFill>
            <a:srgbClr val="5E36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15D625-37F7-6E05-0409-80DBEE7EED77}"/>
              </a:ext>
            </a:extLst>
          </p:cNvPr>
          <p:cNvSpPr txBox="1"/>
          <p:nvPr/>
        </p:nvSpPr>
        <p:spPr>
          <a:xfrm>
            <a:off x="838200" y="2832100"/>
            <a:ext cx="32385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300" b="1">
                <a:solidFill>
                  <a:srgbClr val="E6DDE7"/>
                </a:solidFill>
                <a:latin typeface="Aptos" panose="020B0004020202020204" pitchFamily="34" charset="0"/>
              </a:rPr>
              <a:t>PROPOSED ROUND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57FC07-AC1F-E126-0AB1-01A091F509AA}"/>
              </a:ext>
            </a:extLst>
          </p:cNvPr>
          <p:cNvSpPr txBox="1"/>
          <p:nvPr/>
        </p:nvSpPr>
        <p:spPr>
          <a:xfrm>
            <a:off x="838200" y="3378200"/>
            <a:ext cx="32385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3900" b="1">
                <a:solidFill>
                  <a:srgbClr val="FFFDF8"/>
                </a:solidFill>
                <a:latin typeface="Georgia" panose="02040502050405020303" pitchFamily="18" charset="0"/>
              </a:rPr>
              <a:t>$15,000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0642DF-A9CA-A28E-C6F1-DC59DA651B0A}"/>
              </a:ext>
            </a:extLst>
          </p:cNvPr>
          <p:cNvSpPr txBox="1"/>
          <p:nvPr/>
        </p:nvSpPr>
        <p:spPr>
          <a:xfrm>
            <a:off x="838200" y="4432300"/>
            <a:ext cx="31750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700">
                <a:solidFill>
                  <a:srgbClr val="FFFDF8"/>
                </a:solidFill>
                <a:latin typeface="Aptos" panose="020B0004020202020204" pitchFamily="34" charset="0"/>
              </a:rPr>
              <a:t>A bounded test while demand and inventory utilization are still unproven.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8D25647-EBD0-3969-E601-CAAD938C7A91}"/>
              </a:ext>
            </a:extLst>
          </p:cNvPr>
          <p:cNvSpPr/>
          <p:nvPr/>
        </p:nvSpPr>
        <p:spPr>
          <a:xfrm>
            <a:off x="4851400" y="2501900"/>
            <a:ext cx="3238500" cy="3048000"/>
          </a:xfrm>
          <a:prstGeom prst="roundRect">
            <a:avLst/>
          </a:prstGeom>
          <a:solidFill>
            <a:srgbClr val="FFF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5733FC-1615-AE23-26C1-475869B968FD}"/>
              </a:ext>
            </a:extLst>
          </p:cNvPr>
          <p:cNvSpPr/>
          <p:nvPr/>
        </p:nvSpPr>
        <p:spPr>
          <a:xfrm>
            <a:off x="4851400" y="2501900"/>
            <a:ext cx="63500" cy="3048000"/>
          </a:xfrm>
          <a:prstGeom prst="rect">
            <a:avLst/>
          </a:prstGeom>
          <a:solidFill>
            <a:srgbClr val="D765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01E16C-54D9-5E17-1A17-C2227A25C627}"/>
              </a:ext>
            </a:extLst>
          </p:cNvPr>
          <p:cNvSpPr txBox="1"/>
          <p:nvPr/>
        </p:nvSpPr>
        <p:spPr>
          <a:xfrm>
            <a:off x="5080000" y="2717800"/>
            <a:ext cx="27813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5E365F"/>
                </a:solidFill>
                <a:latin typeface="Aptos" panose="020B0004020202020204" pitchFamily="34" charset="0"/>
              </a:rPr>
              <a:t>INSTRUMENT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5EB8EB-BBB5-F1F8-2BB9-B964F41E5416}"/>
              </a:ext>
            </a:extLst>
          </p:cNvPr>
          <p:cNvSpPr txBox="1"/>
          <p:nvPr/>
        </p:nvSpPr>
        <p:spPr>
          <a:xfrm>
            <a:off x="5080000" y="3200400"/>
            <a:ext cx="2781300" cy="2184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900">
                <a:solidFill>
                  <a:srgbClr val="20252B"/>
                </a:solidFill>
                <a:latin typeface="Aptos" panose="020B0004020202020204" pitchFamily="34" charset="0"/>
              </a:rPr>
              <a:t>SAFE
Proposed; unsigned.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7951608-5959-46DD-C869-25F34D065A11}"/>
              </a:ext>
            </a:extLst>
          </p:cNvPr>
          <p:cNvSpPr/>
          <p:nvPr/>
        </p:nvSpPr>
        <p:spPr>
          <a:xfrm>
            <a:off x="8382000" y="2501900"/>
            <a:ext cx="3302000" cy="3048000"/>
          </a:xfrm>
          <a:prstGeom prst="roundRect">
            <a:avLst/>
          </a:prstGeom>
          <a:solidFill>
            <a:srgbClr val="FFF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FA7E1D-8BCC-D468-95F1-77F09A1E1C05}"/>
              </a:ext>
            </a:extLst>
          </p:cNvPr>
          <p:cNvSpPr/>
          <p:nvPr/>
        </p:nvSpPr>
        <p:spPr>
          <a:xfrm>
            <a:off x="8382000" y="2501900"/>
            <a:ext cx="63500" cy="3048000"/>
          </a:xfrm>
          <a:prstGeom prst="rect">
            <a:avLst/>
          </a:prstGeom>
          <a:solidFill>
            <a:srgbClr val="5E36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129BE3-1A2F-C4AE-23E2-DD25F189C734}"/>
              </a:ext>
            </a:extLst>
          </p:cNvPr>
          <p:cNvSpPr txBox="1"/>
          <p:nvPr/>
        </p:nvSpPr>
        <p:spPr>
          <a:xfrm>
            <a:off x="8610600" y="2717800"/>
            <a:ext cx="28448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5E365F"/>
                </a:solidFill>
                <a:latin typeface="Aptos" panose="020B0004020202020204" pitchFamily="34" charset="0"/>
              </a:rPr>
              <a:t>POST-MONEY CAP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D37E17-87BE-A6AA-6A37-C8BD555E59E9}"/>
              </a:ext>
            </a:extLst>
          </p:cNvPr>
          <p:cNvSpPr txBox="1"/>
          <p:nvPr/>
        </p:nvSpPr>
        <p:spPr>
          <a:xfrm>
            <a:off x="8610600" y="3200400"/>
            <a:ext cx="2844800" cy="2184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900">
                <a:solidFill>
                  <a:srgbClr val="20252B"/>
                </a:solidFill>
                <a:latin typeface="Aptos" panose="020B0004020202020204" pitchFamily="34" charset="0"/>
              </a:rPr>
              <a:t>$135,000
Classroom assumption.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2009E6-1A84-23B6-A18A-2B7F00EB099E}"/>
              </a:ext>
            </a:extLst>
          </p:cNvPr>
          <p:cNvSpPr txBox="1"/>
          <p:nvPr/>
        </p:nvSpPr>
        <p:spPr>
          <a:xfrm>
            <a:off x="609600" y="5715000"/>
            <a:ext cx="10922000" cy="495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6B7077"/>
                </a:solidFill>
                <a:latin typeface="Aptos" panose="020B0004020202020204" pitchFamily="34" charset="0"/>
              </a:rPr>
              <a:t>Illustrative ownership at the cap: $15k / ($135k + $15k) = 10%. Proposed terms only; not a signed document, independent valuation, or legal advice.</a:t>
            </a:r>
          </a:p>
        </p:txBody>
      </p:sp>
    </p:spTree>
    <p:extLst>
      <p:ext uri="{BB962C8B-B14F-4D97-AF65-F5344CB8AC3E}">
        <p14:creationId xmlns:p14="http://schemas.microsoft.com/office/powerpoint/2010/main" val="602412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ED2A1C-BEA0-F80A-2B60-4ECF1D7F9FEE}"/>
              </a:ext>
            </a:extLst>
          </p:cNvPr>
          <p:cNvSpPr/>
          <p:nvPr/>
        </p:nvSpPr>
        <p:spPr>
          <a:xfrm>
            <a:off x="508000" y="431800"/>
            <a:ext cx="533400" cy="50800"/>
          </a:xfrm>
          <a:prstGeom prst="rect">
            <a:avLst/>
          </a:prstGeom>
          <a:solidFill>
            <a:srgbClr val="D765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EEEE00-A3D5-0BE0-DD95-9A22A2F443DF}"/>
              </a:ext>
            </a:extLst>
          </p:cNvPr>
          <p:cNvSpPr txBox="1"/>
          <p:nvPr/>
        </p:nvSpPr>
        <p:spPr>
          <a:xfrm>
            <a:off x="508000" y="622300"/>
            <a:ext cx="106680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000" b="1">
                <a:solidFill>
                  <a:srgbClr val="5E365F"/>
                </a:solidFill>
                <a:latin typeface="Aptos" panose="020B0004020202020204" pitchFamily="34" charset="0"/>
              </a:rPr>
              <a:t>4:05-4:55  |  USE OF FUNDS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256E7A-A4E6-CCF7-7A2A-FC9BDFC8CB82}"/>
              </a:ext>
            </a:extLst>
          </p:cNvPr>
          <p:cNvSpPr txBox="1"/>
          <p:nvPr/>
        </p:nvSpPr>
        <p:spPr>
          <a:xfrm>
            <a:off x="508000" y="1054100"/>
            <a:ext cx="11176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2900">
                <a:solidFill>
                  <a:srgbClr val="20252B"/>
                </a:solidFill>
                <a:latin typeface="Georgia" panose="02040502050405020303" pitchFamily="18" charset="0"/>
              </a:rPr>
              <a:t>Every dollar is assigned to a pilot job.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B1E219-84AE-9A84-074C-DEF84FC84D68}"/>
              </a:ext>
            </a:extLst>
          </p:cNvPr>
          <p:cNvSpPr/>
          <p:nvPr/>
        </p:nvSpPr>
        <p:spPr>
          <a:xfrm>
            <a:off x="508000" y="6350000"/>
            <a:ext cx="11176000" cy="12700"/>
          </a:xfrm>
          <a:prstGeom prst="rect">
            <a:avLst/>
          </a:prstGeom>
          <a:solidFill>
            <a:srgbClr val="D3CAB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9CE102-D436-0511-BFF7-716A70DFCF66}"/>
              </a:ext>
            </a:extLst>
          </p:cNvPr>
          <p:cNvSpPr txBox="1"/>
          <p:nvPr/>
        </p:nvSpPr>
        <p:spPr>
          <a:xfrm>
            <a:off x="508000" y="6451600"/>
            <a:ext cx="635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900" b="1">
                <a:solidFill>
                  <a:srgbClr val="6B7077"/>
                </a:solidFill>
                <a:latin typeface="Aptos" panose="020B0004020202020204" pitchFamily="34" charset="0"/>
              </a:rPr>
              <a:t>CAREERCLOSET  |  FINAL FUNDRAISING PITCH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C0858E-E11D-A748-ECFE-2523B4478DD2}"/>
              </a:ext>
            </a:extLst>
          </p:cNvPr>
          <p:cNvSpPr txBox="1"/>
          <p:nvPr/>
        </p:nvSpPr>
        <p:spPr>
          <a:xfrm>
            <a:off x="10896600" y="6451600"/>
            <a:ext cx="787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sz="900">
                <a:solidFill>
                  <a:srgbClr val="6B7077"/>
                </a:solidFill>
                <a:latin typeface="Aptos" panose="020B0004020202020204" pitchFamily="34" charset="0"/>
              </a:rPr>
              <a:t>7 / 12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9B5753E-EA02-FA1B-5050-A00059A9F5E1}"/>
              </a:ext>
            </a:extLst>
          </p:cNvPr>
          <p:cNvSpPr/>
          <p:nvPr/>
        </p:nvSpPr>
        <p:spPr>
          <a:xfrm>
            <a:off x="508000" y="2476500"/>
            <a:ext cx="11176000" cy="723900"/>
          </a:xfrm>
          <a:prstGeom prst="roundRect">
            <a:avLst/>
          </a:prstGeom>
          <a:solidFill>
            <a:srgbClr val="FFF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41220E-518B-86A4-0E20-ED6F2A149A41}"/>
              </a:ext>
            </a:extLst>
          </p:cNvPr>
          <p:cNvSpPr/>
          <p:nvPr/>
        </p:nvSpPr>
        <p:spPr>
          <a:xfrm>
            <a:off x="508000" y="2476500"/>
            <a:ext cx="76200" cy="723900"/>
          </a:xfrm>
          <a:prstGeom prst="rect">
            <a:avLst/>
          </a:prstGeom>
          <a:solidFill>
            <a:srgbClr val="D765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17488B-B31A-85FE-4367-3DA0B8178B8C}"/>
              </a:ext>
            </a:extLst>
          </p:cNvPr>
          <p:cNvSpPr txBox="1"/>
          <p:nvPr/>
        </p:nvSpPr>
        <p:spPr>
          <a:xfrm>
            <a:off x="787400" y="2628900"/>
            <a:ext cx="7112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500" b="1">
                <a:solidFill>
                  <a:srgbClr val="20252B"/>
                </a:solidFill>
                <a:latin typeface="Aptos" panose="020B0004020202020204" pitchFamily="34" charset="0"/>
              </a:rPr>
              <a:t>CURATED INITIAL INVENTORY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1469D8-BEAC-FDD8-5066-9EC0E1BBA3F9}"/>
              </a:ext>
            </a:extLst>
          </p:cNvPr>
          <p:cNvSpPr txBox="1"/>
          <p:nvPr/>
        </p:nvSpPr>
        <p:spPr>
          <a:xfrm>
            <a:off x="8382000" y="2654300"/>
            <a:ext cx="12065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300">
                <a:solidFill>
                  <a:srgbClr val="6B7077"/>
                </a:solidFill>
                <a:latin typeface="Aptos" panose="020B0004020202020204" pitchFamily="34" charset="0"/>
              </a:rPr>
              <a:t>40%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75BE2B-09A4-6A91-6EEF-FD1ED326C14F}"/>
              </a:ext>
            </a:extLst>
          </p:cNvPr>
          <p:cNvSpPr txBox="1"/>
          <p:nvPr/>
        </p:nvSpPr>
        <p:spPr>
          <a:xfrm>
            <a:off x="9969500" y="2578100"/>
            <a:ext cx="14605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sz="2000" b="1">
                <a:solidFill>
                  <a:srgbClr val="5E365F"/>
                </a:solidFill>
                <a:latin typeface="Georgia" panose="02040502050405020303" pitchFamily="18" charset="0"/>
              </a:rPr>
              <a:t>$6,000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5EC58D7-8AAC-72CE-F866-CE667E7FD99C}"/>
              </a:ext>
            </a:extLst>
          </p:cNvPr>
          <p:cNvSpPr/>
          <p:nvPr/>
        </p:nvSpPr>
        <p:spPr>
          <a:xfrm>
            <a:off x="508000" y="3314700"/>
            <a:ext cx="11176000" cy="723900"/>
          </a:xfrm>
          <a:prstGeom prst="roundRect">
            <a:avLst/>
          </a:prstGeom>
          <a:solidFill>
            <a:srgbClr val="FFF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872264-D65B-6E05-E577-4C688CE7350F}"/>
              </a:ext>
            </a:extLst>
          </p:cNvPr>
          <p:cNvSpPr/>
          <p:nvPr/>
        </p:nvSpPr>
        <p:spPr>
          <a:xfrm>
            <a:off x="508000" y="3314700"/>
            <a:ext cx="76200" cy="723900"/>
          </a:xfrm>
          <a:prstGeom prst="rect">
            <a:avLst/>
          </a:prstGeom>
          <a:solidFill>
            <a:srgbClr val="5E36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C550F8-C661-DBFD-7B08-41F0EF242B0F}"/>
              </a:ext>
            </a:extLst>
          </p:cNvPr>
          <p:cNvSpPr txBox="1"/>
          <p:nvPr/>
        </p:nvSpPr>
        <p:spPr>
          <a:xfrm>
            <a:off x="787400" y="3467100"/>
            <a:ext cx="7112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500" b="1">
                <a:solidFill>
                  <a:srgbClr val="20252B"/>
                </a:solidFill>
                <a:latin typeface="Aptos" panose="020B0004020202020204" pitchFamily="34" charset="0"/>
              </a:rPr>
              <a:t>CLEANING + ALTERATION SETUP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BFD0D1-A10C-6A44-E39E-D91A8C1EC4C8}"/>
              </a:ext>
            </a:extLst>
          </p:cNvPr>
          <p:cNvSpPr txBox="1"/>
          <p:nvPr/>
        </p:nvSpPr>
        <p:spPr>
          <a:xfrm>
            <a:off x="8382000" y="3492500"/>
            <a:ext cx="12065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300">
                <a:solidFill>
                  <a:srgbClr val="6B7077"/>
                </a:solidFill>
                <a:latin typeface="Aptos" panose="020B0004020202020204" pitchFamily="34" charset="0"/>
              </a:rPr>
              <a:t>13.3%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350FDC-CC25-E0C8-0A62-B0F28325771A}"/>
              </a:ext>
            </a:extLst>
          </p:cNvPr>
          <p:cNvSpPr txBox="1"/>
          <p:nvPr/>
        </p:nvSpPr>
        <p:spPr>
          <a:xfrm>
            <a:off x="9969500" y="3416300"/>
            <a:ext cx="14605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sz="2000" b="1">
                <a:solidFill>
                  <a:srgbClr val="5E365F"/>
                </a:solidFill>
                <a:latin typeface="Georgia" panose="02040502050405020303" pitchFamily="18" charset="0"/>
              </a:rPr>
              <a:t>$2,000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BB1060F-5EBD-A7E4-81EB-A4210F0E668B}"/>
              </a:ext>
            </a:extLst>
          </p:cNvPr>
          <p:cNvSpPr/>
          <p:nvPr/>
        </p:nvSpPr>
        <p:spPr>
          <a:xfrm>
            <a:off x="508000" y="4152900"/>
            <a:ext cx="11176000" cy="723900"/>
          </a:xfrm>
          <a:prstGeom prst="roundRect">
            <a:avLst/>
          </a:prstGeom>
          <a:solidFill>
            <a:srgbClr val="FFF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ECF1E9-9557-9CEA-A990-3C0C5945A6B3}"/>
              </a:ext>
            </a:extLst>
          </p:cNvPr>
          <p:cNvSpPr/>
          <p:nvPr/>
        </p:nvSpPr>
        <p:spPr>
          <a:xfrm>
            <a:off x="508000" y="4152900"/>
            <a:ext cx="76200" cy="723900"/>
          </a:xfrm>
          <a:prstGeom prst="rect">
            <a:avLst/>
          </a:prstGeom>
          <a:solidFill>
            <a:srgbClr val="D2A6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DB04CB-6D8E-D80A-B8DA-5ACBC7B5E158}"/>
              </a:ext>
            </a:extLst>
          </p:cNvPr>
          <p:cNvSpPr txBox="1"/>
          <p:nvPr/>
        </p:nvSpPr>
        <p:spPr>
          <a:xfrm>
            <a:off x="787400" y="4305300"/>
            <a:ext cx="7112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500" b="1">
                <a:solidFill>
                  <a:srgbClr val="20252B"/>
                </a:solidFill>
                <a:latin typeface="Aptos" panose="020B0004020202020204" pitchFamily="34" charset="0"/>
              </a:rPr>
              <a:t>CAMPUS PILOT + ACQUISITION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8491D7-A343-B492-E08F-82751331C16A}"/>
              </a:ext>
            </a:extLst>
          </p:cNvPr>
          <p:cNvSpPr txBox="1"/>
          <p:nvPr/>
        </p:nvSpPr>
        <p:spPr>
          <a:xfrm>
            <a:off x="8382000" y="4330700"/>
            <a:ext cx="12065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300">
                <a:solidFill>
                  <a:srgbClr val="6B7077"/>
                </a:solidFill>
                <a:latin typeface="Aptos" panose="020B0004020202020204" pitchFamily="34" charset="0"/>
              </a:rPr>
              <a:t>26.7%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49B756-BD42-2C1A-B65D-EB0A0C78DC94}"/>
              </a:ext>
            </a:extLst>
          </p:cNvPr>
          <p:cNvSpPr txBox="1"/>
          <p:nvPr/>
        </p:nvSpPr>
        <p:spPr>
          <a:xfrm>
            <a:off x="9969500" y="4254500"/>
            <a:ext cx="14605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sz="2000" b="1">
                <a:solidFill>
                  <a:srgbClr val="5E365F"/>
                </a:solidFill>
                <a:latin typeface="Georgia" panose="02040502050405020303" pitchFamily="18" charset="0"/>
              </a:rPr>
              <a:t>$4,000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081B627-070F-14A0-41C2-96B50A6DC24A}"/>
              </a:ext>
            </a:extLst>
          </p:cNvPr>
          <p:cNvSpPr/>
          <p:nvPr/>
        </p:nvSpPr>
        <p:spPr>
          <a:xfrm>
            <a:off x="508000" y="4991100"/>
            <a:ext cx="11176000" cy="723900"/>
          </a:xfrm>
          <a:prstGeom prst="roundRect">
            <a:avLst/>
          </a:prstGeom>
          <a:solidFill>
            <a:srgbClr val="FFF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800A7DB-B171-01A5-AF02-7CBB2A1F0DF8}"/>
              </a:ext>
            </a:extLst>
          </p:cNvPr>
          <p:cNvSpPr/>
          <p:nvPr/>
        </p:nvSpPr>
        <p:spPr>
          <a:xfrm>
            <a:off x="508000" y="4991100"/>
            <a:ext cx="76200" cy="723900"/>
          </a:xfrm>
          <a:prstGeom prst="rect">
            <a:avLst/>
          </a:prstGeom>
          <a:solidFill>
            <a:srgbClr val="5E36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AE67FB-CE0E-6C88-9622-3A8417971AEA}"/>
              </a:ext>
            </a:extLst>
          </p:cNvPr>
          <p:cNvSpPr txBox="1"/>
          <p:nvPr/>
        </p:nvSpPr>
        <p:spPr>
          <a:xfrm>
            <a:off x="787400" y="5143500"/>
            <a:ext cx="7112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500" b="1">
                <a:solidFill>
                  <a:srgbClr val="20252B"/>
                </a:solidFill>
                <a:latin typeface="Aptos" panose="020B0004020202020204" pitchFamily="34" charset="0"/>
              </a:rPr>
              <a:t>SOFTWARE, SUPPORT + CONTINGENCY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DE6717-A62D-8863-1FE1-0B376B7BECE7}"/>
              </a:ext>
            </a:extLst>
          </p:cNvPr>
          <p:cNvSpPr txBox="1"/>
          <p:nvPr/>
        </p:nvSpPr>
        <p:spPr>
          <a:xfrm>
            <a:off x="8382000" y="5168900"/>
            <a:ext cx="12065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300">
                <a:solidFill>
                  <a:srgbClr val="6B7077"/>
                </a:solidFill>
                <a:latin typeface="Aptos" panose="020B0004020202020204" pitchFamily="34" charset="0"/>
              </a:rPr>
              <a:t>20%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A83B96F-0530-C304-7E19-6574F63ABCF3}"/>
              </a:ext>
            </a:extLst>
          </p:cNvPr>
          <p:cNvSpPr txBox="1"/>
          <p:nvPr/>
        </p:nvSpPr>
        <p:spPr>
          <a:xfrm>
            <a:off x="9969500" y="5092700"/>
            <a:ext cx="14605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sz="2000" b="1">
                <a:solidFill>
                  <a:srgbClr val="5E365F"/>
                </a:solidFill>
                <a:latin typeface="Georgia" panose="02040502050405020303" pitchFamily="18" charset="0"/>
              </a:rPr>
              <a:t>$3,000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9DBFAB-6A6B-8AD3-6097-22C0C3F68DF3}"/>
              </a:ext>
            </a:extLst>
          </p:cNvPr>
          <p:cNvSpPr txBox="1"/>
          <p:nvPr/>
        </p:nvSpPr>
        <p:spPr>
          <a:xfrm>
            <a:off x="609600" y="5994400"/>
            <a:ext cx="10795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300" b="1">
                <a:solidFill>
                  <a:srgbClr val="6B7077"/>
                </a:solidFill>
                <a:latin typeface="Aptos" panose="020B0004020202020204" pitchFamily="34" charset="0"/>
              </a:rPr>
              <a:t>TOTAL  $15,000     |     Proposed budget; not spend to date.</a:t>
            </a:r>
          </a:p>
        </p:txBody>
      </p:sp>
    </p:spTree>
    <p:extLst>
      <p:ext uri="{BB962C8B-B14F-4D97-AF65-F5344CB8AC3E}">
        <p14:creationId xmlns:p14="http://schemas.microsoft.com/office/powerpoint/2010/main" val="4082274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2B7C8D-707A-A043-0BA4-1261C5C78644}"/>
              </a:ext>
            </a:extLst>
          </p:cNvPr>
          <p:cNvSpPr/>
          <p:nvPr/>
        </p:nvSpPr>
        <p:spPr>
          <a:xfrm>
            <a:off x="508000" y="431800"/>
            <a:ext cx="533400" cy="50800"/>
          </a:xfrm>
          <a:prstGeom prst="rect">
            <a:avLst/>
          </a:prstGeom>
          <a:solidFill>
            <a:srgbClr val="D765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A9C670-5202-3194-DEFC-6519FB0D58C9}"/>
              </a:ext>
            </a:extLst>
          </p:cNvPr>
          <p:cNvSpPr txBox="1"/>
          <p:nvPr/>
        </p:nvSpPr>
        <p:spPr>
          <a:xfrm>
            <a:off x="508000" y="622300"/>
            <a:ext cx="106680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000" b="1">
                <a:solidFill>
                  <a:srgbClr val="5E365F"/>
                </a:solidFill>
                <a:latin typeface="Aptos" panose="020B0004020202020204" pitchFamily="34" charset="0"/>
              </a:rPr>
              <a:t>4:55-5:45  |  RUNWAY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91C155-DA4A-F6B5-A253-A62287B8B931}"/>
              </a:ext>
            </a:extLst>
          </p:cNvPr>
          <p:cNvSpPr txBox="1"/>
          <p:nvPr/>
        </p:nvSpPr>
        <p:spPr>
          <a:xfrm>
            <a:off x="508000" y="1054100"/>
            <a:ext cx="11176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2900">
                <a:solidFill>
                  <a:srgbClr val="20252B"/>
                </a:solidFill>
                <a:latin typeface="Georgia" panose="02040502050405020303" pitchFamily="18" charset="0"/>
              </a:rPr>
              <a:t>The round buys six months, not indefinite operating time.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CB69E4-4895-A48B-7042-0C2F74B107D8}"/>
              </a:ext>
            </a:extLst>
          </p:cNvPr>
          <p:cNvSpPr/>
          <p:nvPr/>
        </p:nvSpPr>
        <p:spPr>
          <a:xfrm>
            <a:off x="508000" y="6350000"/>
            <a:ext cx="11176000" cy="12700"/>
          </a:xfrm>
          <a:prstGeom prst="rect">
            <a:avLst/>
          </a:prstGeom>
          <a:solidFill>
            <a:srgbClr val="D3CAB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BA6125-1447-7B9F-8D88-AD1E72CE0B08}"/>
              </a:ext>
            </a:extLst>
          </p:cNvPr>
          <p:cNvSpPr txBox="1"/>
          <p:nvPr/>
        </p:nvSpPr>
        <p:spPr>
          <a:xfrm>
            <a:off x="508000" y="6451600"/>
            <a:ext cx="635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900" b="1">
                <a:solidFill>
                  <a:srgbClr val="6B7077"/>
                </a:solidFill>
                <a:latin typeface="Aptos" panose="020B0004020202020204" pitchFamily="34" charset="0"/>
              </a:rPr>
              <a:t>CAREERCLOSET  |  FINAL FUNDRAISING PITCH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EE7391-5FBC-7959-4387-1BE77E4D5D37}"/>
              </a:ext>
            </a:extLst>
          </p:cNvPr>
          <p:cNvSpPr txBox="1"/>
          <p:nvPr/>
        </p:nvSpPr>
        <p:spPr>
          <a:xfrm>
            <a:off x="10896600" y="6451600"/>
            <a:ext cx="787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sz="900">
                <a:solidFill>
                  <a:srgbClr val="6B7077"/>
                </a:solidFill>
                <a:latin typeface="Aptos" panose="020B0004020202020204" pitchFamily="34" charset="0"/>
              </a:rPr>
              <a:t>8 / 12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DCD1D76-FEE5-1AC5-41C4-9CBF272CE7C1}"/>
              </a:ext>
            </a:extLst>
          </p:cNvPr>
          <p:cNvSpPr/>
          <p:nvPr/>
        </p:nvSpPr>
        <p:spPr>
          <a:xfrm>
            <a:off x="508000" y="2590800"/>
            <a:ext cx="2603500" cy="1485900"/>
          </a:xfrm>
          <a:prstGeom prst="roundRect">
            <a:avLst/>
          </a:prstGeom>
          <a:solidFill>
            <a:srgbClr val="FFF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DAC2BF-C0EB-D981-0D54-5C5EFBC0B25E}"/>
              </a:ext>
            </a:extLst>
          </p:cNvPr>
          <p:cNvSpPr txBox="1"/>
          <p:nvPr/>
        </p:nvSpPr>
        <p:spPr>
          <a:xfrm>
            <a:off x="660400" y="2755900"/>
            <a:ext cx="22987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000" b="1">
                <a:solidFill>
                  <a:srgbClr val="5E365F"/>
                </a:solidFill>
                <a:latin typeface="Aptos" panose="020B0004020202020204" pitchFamily="34" charset="0"/>
              </a:rPr>
              <a:t>PRE-FINANCING CASH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380C32-DC83-CDA6-99B3-78597F54B19F}"/>
              </a:ext>
            </a:extLst>
          </p:cNvPr>
          <p:cNvSpPr txBox="1"/>
          <p:nvPr/>
        </p:nvSpPr>
        <p:spPr>
          <a:xfrm>
            <a:off x="660400" y="3149600"/>
            <a:ext cx="22987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2100" b="1">
                <a:solidFill>
                  <a:srgbClr val="D7654C"/>
                </a:solidFill>
                <a:latin typeface="Georgia" panose="02040502050405020303" pitchFamily="18" charset="0"/>
              </a:rPr>
              <a:t>$0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1F294E-BD92-3EB6-4CC9-2F2B4D73F475}"/>
              </a:ext>
            </a:extLst>
          </p:cNvPr>
          <p:cNvSpPr txBox="1"/>
          <p:nvPr/>
        </p:nvSpPr>
        <p:spPr>
          <a:xfrm>
            <a:off x="660400" y="3606800"/>
            <a:ext cx="22987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100">
                <a:solidFill>
                  <a:srgbClr val="6B7077"/>
                </a:solidFill>
                <a:latin typeface="Aptos" panose="020B0004020202020204" pitchFamily="34" charset="0"/>
              </a:rPr>
              <a:t>assumption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B9B50CD-E79C-FA06-79C5-DC9B293C515D}"/>
              </a:ext>
            </a:extLst>
          </p:cNvPr>
          <p:cNvSpPr/>
          <p:nvPr/>
        </p:nvSpPr>
        <p:spPr>
          <a:xfrm>
            <a:off x="3365500" y="2590800"/>
            <a:ext cx="2603500" cy="1485900"/>
          </a:xfrm>
          <a:prstGeom prst="roundRect">
            <a:avLst/>
          </a:prstGeom>
          <a:solidFill>
            <a:srgbClr val="FFF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224538-C8B4-DD7E-272E-C4BFD04532DF}"/>
              </a:ext>
            </a:extLst>
          </p:cNvPr>
          <p:cNvSpPr txBox="1"/>
          <p:nvPr/>
        </p:nvSpPr>
        <p:spPr>
          <a:xfrm>
            <a:off x="3517900" y="2755900"/>
            <a:ext cx="22987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000" b="1">
                <a:solidFill>
                  <a:srgbClr val="5E365F"/>
                </a:solidFill>
                <a:latin typeface="Aptos" panose="020B0004020202020204" pitchFamily="34" charset="0"/>
              </a:rPr>
              <a:t>NEW FINANCING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327E1F-660A-31FE-6E90-D53CD4BAFC77}"/>
              </a:ext>
            </a:extLst>
          </p:cNvPr>
          <p:cNvSpPr txBox="1"/>
          <p:nvPr/>
        </p:nvSpPr>
        <p:spPr>
          <a:xfrm>
            <a:off x="3517900" y="3149600"/>
            <a:ext cx="22987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2100" b="1">
                <a:solidFill>
                  <a:srgbClr val="D7654C"/>
                </a:solidFill>
                <a:latin typeface="Georgia" panose="02040502050405020303" pitchFamily="18" charset="0"/>
              </a:rPr>
              <a:t>$15,000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6B354C-B32F-013F-DED5-D2FF942FAACA}"/>
              </a:ext>
            </a:extLst>
          </p:cNvPr>
          <p:cNvSpPr txBox="1"/>
          <p:nvPr/>
        </p:nvSpPr>
        <p:spPr>
          <a:xfrm>
            <a:off x="3517900" y="3606800"/>
            <a:ext cx="22987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100">
                <a:solidFill>
                  <a:srgbClr val="6B7077"/>
                </a:solidFill>
                <a:latin typeface="Aptos" panose="020B0004020202020204" pitchFamily="34" charset="0"/>
              </a:rPr>
              <a:t>proposed ask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4ED2B29-B06B-6B05-FB5F-258D51E745A3}"/>
              </a:ext>
            </a:extLst>
          </p:cNvPr>
          <p:cNvSpPr/>
          <p:nvPr/>
        </p:nvSpPr>
        <p:spPr>
          <a:xfrm>
            <a:off x="6223000" y="2590800"/>
            <a:ext cx="2603500" cy="1485900"/>
          </a:xfrm>
          <a:prstGeom prst="roundRect">
            <a:avLst/>
          </a:prstGeom>
          <a:solidFill>
            <a:srgbClr val="FFF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4232D5-B4F5-3F39-23DA-9D2E513B43D2}"/>
              </a:ext>
            </a:extLst>
          </p:cNvPr>
          <p:cNvSpPr txBox="1"/>
          <p:nvPr/>
        </p:nvSpPr>
        <p:spPr>
          <a:xfrm>
            <a:off x="6375400" y="2755900"/>
            <a:ext cx="22987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000" b="1">
                <a:solidFill>
                  <a:srgbClr val="5E365F"/>
                </a:solidFill>
                <a:latin typeface="Aptos" panose="020B0004020202020204" pitchFamily="34" charset="0"/>
              </a:rPr>
              <a:t>AVERAGE NET BURN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83D3DB-39B0-CB7B-5494-028531CE730E}"/>
              </a:ext>
            </a:extLst>
          </p:cNvPr>
          <p:cNvSpPr txBox="1"/>
          <p:nvPr/>
        </p:nvSpPr>
        <p:spPr>
          <a:xfrm>
            <a:off x="6375400" y="3149600"/>
            <a:ext cx="22987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2100" b="1">
                <a:solidFill>
                  <a:srgbClr val="D7654C"/>
                </a:solidFill>
                <a:latin typeface="Georgia" panose="02040502050405020303" pitchFamily="18" charset="0"/>
              </a:rPr>
              <a:t>$2,500 / mo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CB7F1A-97FE-3542-67C9-C885B83A9ECF}"/>
              </a:ext>
            </a:extLst>
          </p:cNvPr>
          <p:cNvSpPr txBox="1"/>
          <p:nvPr/>
        </p:nvSpPr>
        <p:spPr>
          <a:xfrm>
            <a:off x="6375400" y="3606800"/>
            <a:ext cx="22987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100">
                <a:solidFill>
                  <a:srgbClr val="6B7077"/>
                </a:solidFill>
                <a:latin typeface="Aptos" panose="020B0004020202020204" pitchFamily="34" charset="0"/>
              </a:rPr>
              <a:t>planning assumption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CCEF67E-6303-97E7-E72B-51C0E96E254D}"/>
              </a:ext>
            </a:extLst>
          </p:cNvPr>
          <p:cNvSpPr/>
          <p:nvPr/>
        </p:nvSpPr>
        <p:spPr>
          <a:xfrm>
            <a:off x="9080500" y="2590800"/>
            <a:ext cx="2603500" cy="1485900"/>
          </a:xfrm>
          <a:prstGeom prst="roundRect">
            <a:avLst/>
          </a:prstGeom>
          <a:solidFill>
            <a:srgbClr val="FFF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294AFC-2F26-65D3-CDB1-D9E8BB44EAE8}"/>
              </a:ext>
            </a:extLst>
          </p:cNvPr>
          <p:cNvSpPr txBox="1"/>
          <p:nvPr/>
        </p:nvSpPr>
        <p:spPr>
          <a:xfrm>
            <a:off x="9232900" y="2755900"/>
            <a:ext cx="22987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000" b="1">
                <a:solidFill>
                  <a:srgbClr val="5E365F"/>
                </a:solidFill>
                <a:latin typeface="Aptos" panose="020B0004020202020204" pitchFamily="34" charset="0"/>
              </a:rPr>
              <a:t>RUNWAY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DCB11F-A09D-6B2E-142E-D2D717D57454}"/>
              </a:ext>
            </a:extLst>
          </p:cNvPr>
          <p:cNvSpPr txBox="1"/>
          <p:nvPr/>
        </p:nvSpPr>
        <p:spPr>
          <a:xfrm>
            <a:off x="9232900" y="3149600"/>
            <a:ext cx="22987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2100" b="1">
                <a:solidFill>
                  <a:srgbClr val="D7654C"/>
                </a:solidFill>
                <a:latin typeface="Georgia" panose="02040502050405020303" pitchFamily="18" charset="0"/>
              </a:rPr>
              <a:t>6 months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237E10-74D7-E25D-097A-950B1D3C6DCD}"/>
              </a:ext>
            </a:extLst>
          </p:cNvPr>
          <p:cNvSpPr txBox="1"/>
          <p:nvPr/>
        </p:nvSpPr>
        <p:spPr>
          <a:xfrm>
            <a:off x="9232900" y="3606800"/>
            <a:ext cx="22987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100">
                <a:solidFill>
                  <a:srgbClr val="6B7077"/>
                </a:solidFill>
                <a:latin typeface="Aptos" panose="020B0004020202020204" pitchFamily="34" charset="0"/>
              </a:rPr>
              <a:t>$15k / $2.5k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0D347D-FC81-7EEC-86AD-734DF7AA1DA5}"/>
              </a:ext>
            </a:extLst>
          </p:cNvPr>
          <p:cNvSpPr txBox="1"/>
          <p:nvPr/>
        </p:nvSpPr>
        <p:spPr>
          <a:xfrm>
            <a:off x="609600" y="44069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200" b="1">
                <a:solidFill>
                  <a:srgbClr val="5E365F"/>
                </a:solidFill>
                <a:latin typeface="Aptos" panose="020B0004020202020204" pitchFamily="34" charset="0"/>
              </a:rPr>
              <a:t>ILLUSTRATIVE ENDING CASH  |  Assumes even burn and no unplanned costs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3737618-E2C0-CBB2-7125-EA952BF651D7}"/>
              </a:ext>
            </a:extLst>
          </p:cNvPr>
          <p:cNvSpPr/>
          <p:nvPr/>
        </p:nvSpPr>
        <p:spPr>
          <a:xfrm>
            <a:off x="609600" y="4953000"/>
            <a:ext cx="1600200" cy="660400"/>
          </a:xfrm>
          <a:prstGeom prst="roundRect">
            <a:avLst/>
          </a:prstGeom>
          <a:solidFill>
            <a:srgbClr val="FFF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CAEDD0-E002-E0AC-7C04-A4645C47E9B2}"/>
              </a:ext>
            </a:extLst>
          </p:cNvPr>
          <p:cNvSpPr txBox="1"/>
          <p:nvPr/>
        </p:nvSpPr>
        <p:spPr>
          <a:xfrm>
            <a:off x="711200" y="5143500"/>
            <a:ext cx="1397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n-US" sz="1400" b="1">
                <a:solidFill>
                  <a:srgbClr val="20252B"/>
                </a:solidFill>
                <a:latin typeface="Aptos" panose="020B0004020202020204" pitchFamily="34" charset="0"/>
              </a:rPr>
              <a:t>M1  $12,500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91E5D52-093A-F085-BD2B-7778464F8025}"/>
              </a:ext>
            </a:extLst>
          </p:cNvPr>
          <p:cNvSpPr/>
          <p:nvPr/>
        </p:nvSpPr>
        <p:spPr>
          <a:xfrm>
            <a:off x="2451100" y="4953000"/>
            <a:ext cx="1600200" cy="660400"/>
          </a:xfrm>
          <a:prstGeom prst="roundRect">
            <a:avLst/>
          </a:prstGeom>
          <a:solidFill>
            <a:srgbClr val="FFF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CA315E-29AA-0E05-0740-2EF965BB5D5C}"/>
              </a:ext>
            </a:extLst>
          </p:cNvPr>
          <p:cNvSpPr txBox="1"/>
          <p:nvPr/>
        </p:nvSpPr>
        <p:spPr>
          <a:xfrm>
            <a:off x="2552700" y="5143500"/>
            <a:ext cx="1397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n-US" sz="1400" b="1">
                <a:solidFill>
                  <a:srgbClr val="20252B"/>
                </a:solidFill>
                <a:latin typeface="Aptos" panose="020B0004020202020204" pitchFamily="34" charset="0"/>
              </a:rPr>
              <a:t>M2  $10,000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8CD6B65-BBDF-841E-AFE6-0EF087133C8F}"/>
              </a:ext>
            </a:extLst>
          </p:cNvPr>
          <p:cNvSpPr/>
          <p:nvPr/>
        </p:nvSpPr>
        <p:spPr>
          <a:xfrm>
            <a:off x="4292600" y="4953000"/>
            <a:ext cx="1600200" cy="660400"/>
          </a:xfrm>
          <a:prstGeom prst="roundRect">
            <a:avLst/>
          </a:prstGeom>
          <a:solidFill>
            <a:srgbClr val="FFF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EFBED25-4C6F-A038-1225-603F5581F4B8}"/>
              </a:ext>
            </a:extLst>
          </p:cNvPr>
          <p:cNvSpPr txBox="1"/>
          <p:nvPr/>
        </p:nvSpPr>
        <p:spPr>
          <a:xfrm>
            <a:off x="4394200" y="5143500"/>
            <a:ext cx="1397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n-US" sz="1400" b="1">
                <a:solidFill>
                  <a:srgbClr val="20252B"/>
                </a:solidFill>
                <a:latin typeface="Aptos" panose="020B0004020202020204" pitchFamily="34" charset="0"/>
              </a:rPr>
              <a:t>M3  $7,500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57C1987-5B1A-17FB-AC05-C5B6FC53EEFF}"/>
              </a:ext>
            </a:extLst>
          </p:cNvPr>
          <p:cNvSpPr/>
          <p:nvPr/>
        </p:nvSpPr>
        <p:spPr>
          <a:xfrm>
            <a:off x="6134100" y="4953000"/>
            <a:ext cx="1600200" cy="660400"/>
          </a:xfrm>
          <a:prstGeom prst="roundRect">
            <a:avLst/>
          </a:prstGeom>
          <a:solidFill>
            <a:srgbClr val="FFF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05A5669-FDB6-FD64-8BCB-B4335B21D7FA}"/>
              </a:ext>
            </a:extLst>
          </p:cNvPr>
          <p:cNvSpPr txBox="1"/>
          <p:nvPr/>
        </p:nvSpPr>
        <p:spPr>
          <a:xfrm>
            <a:off x="6235700" y="5143500"/>
            <a:ext cx="1397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n-US" sz="1400" b="1">
                <a:solidFill>
                  <a:srgbClr val="20252B"/>
                </a:solidFill>
                <a:latin typeface="Aptos" panose="020B0004020202020204" pitchFamily="34" charset="0"/>
              </a:rPr>
              <a:t>M4  $5,000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7545A6E-63E7-06D2-4135-EB619F557650}"/>
              </a:ext>
            </a:extLst>
          </p:cNvPr>
          <p:cNvSpPr/>
          <p:nvPr/>
        </p:nvSpPr>
        <p:spPr>
          <a:xfrm>
            <a:off x="7975600" y="4953000"/>
            <a:ext cx="1600200" cy="660400"/>
          </a:xfrm>
          <a:prstGeom prst="roundRect">
            <a:avLst/>
          </a:prstGeom>
          <a:solidFill>
            <a:srgbClr val="FFF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95F995A-0285-AE92-802C-3A596FE4029C}"/>
              </a:ext>
            </a:extLst>
          </p:cNvPr>
          <p:cNvSpPr txBox="1"/>
          <p:nvPr/>
        </p:nvSpPr>
        <p:spPr>
          <a:xfrm>
            <a:off x="8077200" y="5143500"/>
            <a:ext cx="1397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n-US" sz="1400" b="1">
                <a:solidFill>
                  <a:srgbClr val="20252B"/>
                </a:solidFill>
                <a:latin typeface="Aptos" panose="020B0004020202020204" pitchFamily="34" charset="0"/>
              </a:rPr>
              <a:t>M5  $2,500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78B4F33-81DE-0D4B-C1F4-D76834949114}"/>
              </a:ext>
            </a:extLst>
          </p:cNvPr>
          <p:cNvSpPr/>
          <p:nvPr/>
        </p:nvSpPr>
        <p:spPr>
          <a:xfrm>
            <a:off x="9817100" y="4953000"/>
            <a:ext cx="1600200" cy="660400"/>
          </a:xfrm>
          <a:prstGeom prst="roundRect">
            <a:avLst/>
          </a:prstGeom>
          <a:solidFill>
            <a:srgbClr val="FFF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FB30C29-C1D5-A947-2025-1093F138CF08}"/>
              </a:ext>
            </a:extLst>
          </p:cNvPr>
          <p:cNvSpPr txBox="1"/>
          <p:nvPr/>
        </p:nvSpPr>
        <p:spPr>
          <a:xfrm>
            <a:off x="9918700" y="5143500"/>
            <a:ext cx="1397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n-US" sz="1400" b="1">
                <a:solidFill>
                  <a:srgbClr val="20252B"/>
                </a:solidFill>
                <a:latin typeface="Aptos" panose="020B0004020202020204" pitchFamily="34" charset="0"/>
              </a:rPr>
              <a:t>M6  $0</a:t>
            </a:r>
          </a:p>
        </p:txBody>
      </p:sp>
    </p:spTree>
    <p:extLst>
      <p:ext uri="{BB962C8B-B14F-4D97-AF65-F5344CB8AC3E}">
        <p14:creationId xmlns:p14="http://schemas.microsoft.com/office/powerpoint/2010/main" val="490415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F6EE38-3340-35D6-3FEF-FF4D8D2231D7}"/>
              </a:ext>
            </a:extLst>
          </p:cNvPr>
          <p:cNvSpPr/>
          <p:nvPr/>
        </p:nvSpPr>
        <p:spPr>
          <a:xfrm>
            <a:off x="508000" y="431800"/>
            <a:ext cx="533400" cy="50800"/>
          </a:xfrm>
          <a:prstGeom prst="rect">
            <a:avLst/>
          </a:prstGeom>
          <a:solidFill>
            <a:srgbClr val="D765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DEDD3B-7D1A-1C61-BE31-095F702D3758}"/>
              </a:ext>
            </a:extLst>
          </p:cNvPr>
          <p:cNvSpPr txBox="1"/>
          <p:nvPr/>
        </p:nvSpPr>
        <p:spPr>
          <a:xfrm>
            <a:off x="508000" y="622300"/>
            <a:ext cx="106680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000" b="1">
                <a:solidFill>
                  <a:srgbClr val="5E365F"/>
                </a:solidFill>
                <a:latin typeface="Aptos" panose="020B0004020202020204" pitchFamily="34" charset="0"/>
              </a:rPr>
              <a:t>5:45-6:40  |  MILESTONES + RELEASE GATES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CC21AE-7B50-506F-27F8-ADF7FA22FF45}"/>
              </a:ext>
            </a:extLst>
          </p:cNvPr>
          <p:cNvSpPr txBox="1"/>
          <p:nvPr/>
        </p:nvSpPr>
        <p:spPr>
          <a:xfrm>
            <a:off x="508000" y="1054100"/>
            <a:ext cx="11176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2900">
                <a:solidFill>
                  <a:srgbClr val="20252B"/>
                </a:solidFill>
                <a:latin typeface="Georgia" panose="02040502050405020303" pitchFamily="18" charset="0"/>
              </a:rPr>
              <a:t>At month six, decide with operating evidence.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506B98-66ED-7624-50E7-CD9B28DFE943}"/>
              </a:ext>
            </a:extLst>
          </p:cNvPr>
          <p:cNvSpPr/>
          <p:nvPr/>
        </p:nvSpPr>
        <p:spPr>
          <a:xfrm>
            <a:off x="508000" y="6350000"/>
            <a:ext cx="11176000" cy="12700"/>
          </a:xfrm>
          <a:prstGeom prst="rect">
            <a:avLst/>
          </a:prstGeom>
          <a:solidFill>
            <a:srgbClr val="D3CAB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649826-E9DF-2D86-E031-85BB75CBB52E}"/>
              </a:ext>
            </a:extLst>
          </p:cNvPr>
          <p:cNvSpPr txBox="1"/>
          <p:nvPr/>
        </p:nvSpPr>
        <p:spPr>
          <a:xfrm>
            <a:off x="508000" y="6451600"/>
            <a:ext cx="635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900" b="1">
                <a:solidFill>
                  <a:srgbClr val="6B7077"/>
                </a:solidFill>
                <a:latin typeface="Aptos" panose="020B0004020202020204" pitchFamily="34" charset="0"/>
              </a:rPr>
              <a:t>CAREERCLOSET  |  FINAL FUNDRAISING PITCH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97F6CE-970C-1497-FD86-C82BF9B2F3B9}"/>
              </a:ext>
            </a:extLst>
          </p:cNvPr>
          <p:cNvSpPr txBox="1"/>
          <p:nvPr/>
        </p:nvSpPr>
        <p:spPr>
          <a:xfrm>
            <a:off x="10896600" y="6451600"/>
            <a:ext cx="787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sz="900">
                <a:solidFill>
                  <a:srgbClr val="6B7077"/>
                </a:solidFill>
                <a:latin typeface="Aptos" panose="020B0004020202020204" pitchFamily="34" charset="0"/>
              </a:rPr>
              <a:t>9 / 12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96809FA-6EB1-4D1A-8BAB-F60A0D09CB94}"/>
              </a:ext>
            </a:extLst>
          </p:cNvPr>
          <p:cNvSpPr/>
          <p:nvPr/>
        </p:nvSpPr>
        <p:spPr>
          <a:xfrm>
            <a:off x="508000" y="2565400"/>
            <a:ext cx="2603500" cy="1828800"/>
          </a:xfrm>
          <a:prstGeom prst="roundRect">
            <a:avLst/>
          </a:prstGeom>
          <a:solidFill>
            <a:srgbClr val="FFF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5E0F07-E0D9-7E90-53A7-0C489CF82BB1}"/>
              </a:ext>
            </a:extLst>
          </p:cNvPr>
          <p:cNvSpPr txBox="1"/>
          <p:nvPr/>
        </p:nvSpPr>
        <p:spPr>
          <a:xfrm>
            <a:off x="698500" y="2819400"/>
            <a:ext cx="22225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n-US" sz="3200" b="1">
                <a:solidFill>
                  <a:srgbClr val="D7654C"/>
                </a:solidFill>
                <a:latin typeface="Georgia" panose="02040502050405020303" pitchFamily="18" charset="0"/>
              </a:rPr>
              <a:t>30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54131A-099A-A9EC-E258-56F59FA4DDAA}"/>
              </a:ext>
            </a:extLst>
          </p:cNvPr>
          <p:cNvSpPr txBox="1"/>
          <p:nvPr/>
        </p:nvSpPr>
        <p:spPr>
          <a:xfrm>
            <a:off x="660400" y="3568700"/>
            <a:ext cx="2298700" cy="584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n-US" sz="1100" b="1">
                <a:solidFill>
                  <a:srgbClr val="5E365F"/>
                </a:solidFill>
                <a:latin typeface="Aptos" panose="020B0004020202020204" pitchFamily="34" charset="0"/>
              </a:rPr>
              <a:t>INTERVIEWS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7BAE556-879C-92CE-4076-4514137B5F28}"/>
              </a:ext>
            </a:extLst>
          </p:cNvPr>
          <p:cNvSpPr/>
          <p:nvPr/>
        </p:nvSpPr>
        <p:spPr>
          <a:xfrm>
            <a:off x="3365500" y="2565400"/>
            <a:ext cx="2603500" cy="1828800"/>
          </a:xfrm>
          <a:prstGeom prst="roundRect">
            <a:avLst/>
          </a:prstGeom>
          <a:solidFill>
            <a:srgbClr val="FFF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041A0F-BB04-9EE1-D97F-BA13FD174F47}"/>
              </a:ext>
            </a:extLst>
          </p:cNvPr>
          <p:cNvSpPr txBox="1"/>
          <p:nvPr/>
        </p:nvSpPr>
        <p:spPr>
          <a:xfrm>
            <a:off x="3556000" y="2819400"/>
            <a:ext cx="22225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n-US" sz="3200" b="1">
                <a:solidFill>
                  <a:srgbClr val="D7654C"/>
                </a:solidFill>
                <a:latin typeface="Georgia" panose="02040502050405020303" pitchFamily="18" charset="0"/>
              </a:rPr>
              <a:t>75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10D6DD-CAF4-A1AD-5298-87543FC50F09}"/>
              </a:ext>
            </a:extLst>
          </p:cNvPr>
          <p:cNvSpPr txBox="1"/>
          <p:nvPr/>
        </p:nvSpPr>
        <p:spPr>
          <a:xfrm>
            <a:off x="3517900" y="3568700"/>
            <a:ext cx="2298700" cy="584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n-US" sz="1100" b="1">
                <a:solidFill>
                  <a:srgbClr val="5E365F"/>
                </a:solidFill>
                <a:latin typeface="Aptos" panose="020B0004020202020204" pitchFamily="34" charset="0"/>
              </a:rPr>
              <a:t>COMPLETED RENTALS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D6CB310-898B-B6D5-7D69-77B44C7C5053}"/>
              </a:ext>
            </a:extLst>
          </p:cNvPr>
          <p:cNvSpPr/>
          <p:nvPr/>
        </p:nvSpPr>
        <p:spPr>
          <a:xfrm>
            <a:off x="6223000" y="2565400"/>
            <a:ext cx="2603500" cy="1828800"/>
          </a:xfrm>
          <a:prstGeom prst="roundRect">
            <a:avLst/>
          </a:prstGeom>
          <a:solidFill>
            <a:srgbClr val="FFF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1FE3B6-4501-763F-C200-CE3D8D917142}"/>
              </a:ext>
            </a:extLst>
          </p:cNvPr>
          <p:cNvSpPr txBox="1"/>
          <p:nvPr/>
        </p:nvSpPr>
        <p:spPr>
          <a:xfrm>
            <a:off x="6413500" y="2819400"/>
            <a:ext cx="22225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n-US" sz="3200" b="1">
                <a:solidFill>
                  <a:srgbClr val="D7654C"/>
                </a:solidFill>
                <a:latin typeface="Georgia" panose="02040502050405020303" pitchFamily="18" charset="0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204886-2761-1847-443B-81C5DCA8AF81}"/>
              </a:ext>
            </a:extLst>
          </p:cNvPr>
          <p:cNvSpPr txBox="1"/>
          <p:nvPr/>
        </p:nvSpPr>
        <p:spPr>
          <a:xfrm>
            <a:off x="6375400" y="3568700"/>
            <a:ext cx="2298700" cy="584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n-US" sz="1100" b="1">
                <a:solidFill>
                  <a:srgbClr val="5E365F"/>
                </a:solidFill>
                <a:latin typeface="Aptos" panose="020B0004020202020204" pitchFamily="34" charset="0"/>
              </a:rPr>
              <a:t>PAID CAMPUS / SPONSOR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F5F5EDF-76C6-B003-2C4E-DAF7064159BD}"/>
              </a:ext>
            </a:extLst>
          </p:cNvPr>
          <p:cNvSpPr/>
          <p:nvPr/>
        </p:nvSpPr>
        <p:spPr>
          <a:xfrm>
            <a:off x="9080500" y="2565400"/>
            <a:ext cx="2603500" cy="1828800"/>
          </a:xfrm>
          <a:prstGeom prst="roundRect">
            <a:avLst/>
          </a:prstGeom>
          <a:solidFill>
            <a:srgbClr val="FFF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760635-C2F6-B753-21AA-9877F9018781}"/>
              </a:ext>
            </a:extLst>
          </p:cNvPr>
          <p:cNvSpPr txBox="1"/>
          <p:nvPr/>
        </p:nvSpPr>
        <p:spPr>
          <a:xfrm>
            <a:off x="9271000" y="2819400"/>
            <a:ext cx="22225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n-US" sz="3200" b="1">
                <a:solidFill>
                  <a:srgbClr val="D7654C"/>
                </a:solidFill>
                <a:latin typeface="Georgia" panose="02040502050405020303" pitchFamily="18" charset="0"/>
              </a:rPr>
              <a:t>80%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07F45C-E67A-9B28-8D26-9738278D36BC}"/>
              </a:ext>
            </a:extLst>
          </p:cNvPr>
          <p:cNvSpPr txBox="1"/>
          <p:nvPr/>
        </p:nvSpPr>
        <p:spPr>
          <a:xfrm>
            <a:off x="9232900" y="3568700"/>
            <a:ext cx="2298700" cy="584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n-US" sz="1100" b="1">
                <a:solidFill>
                  <a:srgbClr val="5E365F"/>
                </a:solidFill>
                <a:latin typeface="Aptos" panose="020B0004020202020204" pitchFamily="34" charset="0"/>
              </a:rPr>
              <a:t>ON-TIME RETURNS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AC357C2-04BA-C8B9-39DC-862ED02F4032}"/>
              </a:ext>
            </a:extLst>
          </p:cNvPr>
          <p:cNvSpPr/>
          <p:nvPr/>
        </p:nvSpPr>
        <p:spPr>
          <a:xfrm>
            <a:off x="508000" y="4686300"/>
            <a:ext cx="11176000" cy="1206500"/>
          </a:xfrm>
          <a:prstGeom prst="roundRect">
            <a:avLst/>
          </a:prstGeom>
          <a:solidFill>
            <a:srgbClr val="5E36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903F59-22B2-9B0E-13B4-6B0E0ED62050}"/>
              </a:ext>
            </a:extLst>
          </p:cNvPr>
          <p:cNvSpPr txBox="1"/>
          <p:nvPr/>
        </p:nvSpPr>
        <p:spPr>
          <a:xfrm>
            <a:off x="787400" y="4889500"/>
            <a:ext cx="106045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300" b="1">
                <a:solidFill>
                  <a:srgbClr val="E6DDE7"/>
                </a:solidFill>
                <a:latin typeface="Aptos" panose="020B0004020202020204" pitchFamily="34" charset="0"/>
              </a:rPr>
              <a:t>EXPAND ONLY WHEN ALL THREE GATES HOLD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F5C0D2-45BB-9641-0324-A4F21D22BD62}"/>
              </a:ext>
            </a:extLst>
          </p:cNvPr>
          <p:cNvSpPr txBox="1"/>
          <p:nvPr/>
        </p:nvSpPr>
        <p:spPr>
          <a:xfrm>
            <a:off x="787400" y="5295900"/>
            <a:ext cx="10604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600" b="1">
                <a:solidFill>
                  <a:srgbClr val="FFFDF8"/>
                </a:solidFill>
                <a:latin typeface="Aptos" panose="020B0004020202020204" pitchFamily="34" charset="0"/>
              </a:rPr>
              <a:t>Positive rental contribution  |  At least 85% fit satisfaction  |  At least 80% on-time returns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373546-8D3F-91A9-3255-5952247AECC9}"/>
              </a:ext>
            </a:extLst>
          </p:cNvPr>
          <p:cNvSpPr txBox="1"/>
          <p:nvPr/>
        </p:nvSpPr>
        <p:spPr>
          <a:xfrm>
            <a:off x="609600" y="6019800"/>
            <a:ext cx="107950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200">
                <a:solidFill>
                  <a:srgbClr val="6B7077"/>
                </a:solidFill>
                <a:latin typeface="Aptos" panose="020B0004020202020204" pitchFamily="34" charset="0"/>
              </a:rPr>
              <a:t>Otherwise, pause inventory growth and fix or stop the model.</a:t>
            </a:r>
          </a:p>
        </p:txBody>
      </p:sp>
    </p:spTree>
    <p:extLst>
      <p:ext uri="{BB962C8B-B14F-4D97-AF65-F5344CB8AC3E}">
        <p14:creationId xmlns:p14="http://schemas.microsoft.com/office/powerpoint/2010/main" val="895567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73409E-00A3-55CD-77C8-629CA7CAB5E7}"/>
              </a:ext>
            </a:extLst>
          </p:cNvPr>
          <p:cNvSpPr/>
          <p:nvPr/>
        </p:nvSpPr>
        <p:spPr>
          <a:xfrm>
            <a:off x="508000" y="431800"/>
            <a:ext cx="533400" cy="50800"/>
          </a:xfrm>
          <a:prstGeom prst="rect">
            <a:avLst/>
          </a:prstGeom>
          <a:solidFill>
            <a:srgbClr val="D765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891595-673C-7C06-1E5B-463594E7EBD3}"/>
              </a:ext>
            </a:extLst>
          </p:cNvPr>
          <p:cNvSpPr txBox="1"/>
          <p:nvPr/>
        </p:nvSpPr>
        <p:spPr>
          <a:xfrm>
            <a:off x="508000" y="622300"/>
            <a:ext cx="106680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000" b="1">
                <a:solidFill>
                  <a:srgbClr val="5E365F"/>
                </a:solidFill>
                <a:latin typeface="Aptos" panose="020B0004020202020204" pitchFamily="34" charset="0"/>
              </a:rPr>
              <a:t>6:40-7:25  |  RISKS + FINANCING FIT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E4B261-8BC0-7B6C-DF1C-67E38D28871A}"/>
              </a:ext>
            </a:extLst>
          </p:cNvPr>
          <p:cNvSpPr txBox="1"/>
          <p:nvPr/>
        </p:nvSpPr>
        <p:spPr>
          <a:xfrm>
            <a:off x="508000" y="1054100"/>
            <a:ext cx="11176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2600">
                <a:solidFill>
                  <a:srgbClr val="20252B"/>
                </a:solidFill>
                <a:latin typeface="Georgia" panose="02040502050405020303" pitchFamily="18" charset="0"/>
              </a:rPr>
              <a:t>We are financing the risks that the pilot can actually resolve.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B36FF9-DEB2-4AB6-4642-FC86598CBB46}"/>
              </a:ext>
            </a:extLst>
          </p:cNvPr>
          <p:cNvSpPr/>
          <p:nvPr/>
        </p:nvSpPr>
        <p:spPr>
          <a:xfrm>
            <a:off x="508000" y="6350000"/>
            <a:ext cx="11176000" cy="12700"/>
          </a:xfrm>
          <a:prstGeom prst="rect">
            <a:avLst/>
          </a:prstGeom>
          <a:solidFill>
            <a:srgbClr val="D3CAB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486F1F-8EEC-8F36-2523-A407B743EA11}"/>
              </a:ext>
            </a:extLst>
          </p:cNvPr>
          <p:cNvSpPr txBox="1"/>
          <p:nvPr/>
        </p:nvSpPr>
        <p:spPr>
          <a:xfrm>
            <a:off x="508000" y="6451600"/>
            <a:ext cx="635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900" b="1">
                <a:solidFill>
                  <a:srgbClr val="6B7077"/>
                </a:solidFill>
                <a:latin typeface="Aptos" panose="020B0004020202020204" pitchFamily="34" charset="0"/>
              </a:rPr>
              <a:t>CAREERCLOSET  |  FINAL FUNDRAISING PITCH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B9DDD0-F596-D900-53F8-DF024E2633CB}"/>
              </a:ext>
            </a:extLst>
          </p:cNvPr>
          <p:cNvSpPr txBox="1"/>
          <p:nvPr/>
        </p:nvSpPr>
        <p:spPr>
          <a:xfrm>
            <a:off x="10896600" y="6451600"/>
            <a:ext cx="787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sz="900">
                <a:solidFill>
                  <a:srgbClr val="6B7077"/>
                </a:solidFill>
                <a:latin typeface="Aptos" panose="020B0004020202020204" pitchFamily="34" charset="0"/>
              </a:rPr>
              <a:t>10 / 12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699AF16-BA2A-4284-AA04-6F02B7721D38}"/>
              </a:ext>
            </a:extLst>
          </p:cNvPr>
          <p:cNvSpPr/>
          <p:nvPr/>
        </p:nvSpPr>
        <p:spPr>
          <a:xfrm>
            <a:off x="508000" y="2501900"/>
            <a:ext cx="5334000" cy="3048000"/>
          </a:xfrm>
          <a:prstGeom prst="roundRect">
            <a:avLst/>
          </a:prstGeom>
          <a:solidFill>
            <a:srgbClr val="FFF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D450F1-BD0A-488E-E8CD-69ED1C97786A}"/>
              </a:ext>
            </a:extLst>
          </p:cNvPr>
          <p:cNvSpPr/>
          <p:nvPr/>
        </p:nvSpPr>
        <p:spPr>
          <a:xfrm>
            <a:off x="508000" y="2501900"/>
            <a:ext cx="63500" cy="3048000"/>
          </a:xfrm>
          <a:prstGeom prst="rect">
            <a:avLst/>
          </a:prstGeom>
          <a:solidFill>
            <a:srgbClr val="D765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91D77B-E4B8-AF6F-FA0C-06DB85B39F02}"/>
              </a:ext>
            </a:extLst>
          </p:cNvPr>
          <p:cNvSpPr txBox="1"/>
          <p:nvPr/>
        </p:nvSpPr>
        <p:spPr>
          <a:xfrm>
            <a:off x="736600" y="2717800"/>
            <a:ext cx="48768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5E365F"/>
                </a:solidFill>
                <a:latin typeface="Aptos" panose="020B0004020202020204" pitchFamily="34" charset="0"/>
              </a:rPr>
              <a:t>OPERATING RISKS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03CAD5-6917-A866-DD41-C3592789E342}"/>
              </a:ext>
            </a:extLst>
          </p:cNvPr>
          <p:cNvSpPr txBox="1"/>
          <p:nvPr/>
        </p:nvSpPr>
        <p:spPr>
          <a:xfrm>
            <a:off x="736600" y="3200400"/>
            <a:ext cx="4876800" cy="2184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800">
                <a:solidFill>
                  <a:srgbClr val="20252B"/>
                </a:solidFill>
                <a:latin typeface="Aptos" panose="020B0004020202020204" pitchFamily="34" charset="0"/>
              </a:rPr>
              <a:t>Fit gaps, low utilization, damage, late returns, and cleaning costs can erase the assumed $21 contribution.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78E0D38-0D25-A350-D523-B0F1A024E433}"/>
              </a:ext>
            </a:extLst>
          </p:cNvPr>
          <p:cNvSpPr/>
          <p:nvPr/>
        </p:nvSpPr>
        <p:spPr>
          <a:xfrm>
            <a:off x="6096000" y="2501900"/>
            <a:ext cx="5588000" cy="3048000"/>
          </a:xfrm>
          <a:prstGeom prst="roundRect">
            <a:avLst/>
          </a:prstGeom>
          <a:solidFill>
            <a:srgbClr val="FFF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0A7124-325E-919A-72D1-46A7EA7212B8}"/>
              </a:ext>
            </a:extLst>
          </p:cNvPr>
          <p:cNvSpPr/>
          <p:nvPr/>
        </p:nvSpPr>
        <p:spPr>
          <a:xfrm>
            <a:off x="6096000" y="2501900"/>
            <a:ext cx="63500" cy="3048000"/>
          </a:xfrm>
          <a:prstGeom prst="rect">
            <a:avLst/>
          </a:prstGeom>
          <a:solidFill>
            <a:srgbClr val="5E36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E0B81C-E6AA-4AB8-8A32-00E9219A85AA}"/>
              </a:ext>
            </a:extLst>
          </p:cNvPr>
          <p:cNvSpPr txBox="1"/>
          <p:nvPr/>
        </p:nvSpPr>
        <p:spPr>
          <a:xfrm>
            <a:off x="6324600" y="2717800"/>
            <a:ext cx="51308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400" b="1">
                <a:solidFill>
                  <a:srgbClr val="5E365F"/>
                </a:solidFill>
                <a:latin typeface="Aptos" panose="020B0004020202020204" pitchFamily="34" charset="0"/>
              </a:rPr>
              <a:t>CONTROLS TO TEST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D2FB36-C2CC-5CD8-460B-E764CFBF78F5}"/>
              </a:ext>
            </a:extLst>
          </p:cNvPr>
          <p:cNvSpPr txBox="1"/>
          <p:nvPr/>
        </p:nvSpPr>
        <p:spPr>
          <a:xfrm>
            <a:off x="6324600" y="3200400"/>
            <a:ext cx="5130800" cy="2184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700">
                <a:solidFill>
                  <a:srgbClr val="20252B"/>
                </a:solidFill>
                <a:latin typeface="Aptos" panose="020B0004020202020204" pitchFamily="34" charset="0"/>
              </a:rPr>
              <a:t>Short rental windows, condition records, deposits or card authorization, and return reminders. Track actual cost and on-time returns.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FB6EFB-47E4-BCA8-E417-97230CE4F365}"/>
              </a:ext>
            </a:extLst>
          </p:cNvPr>
          <p:cNvSpPr txBox="1"/>
          <p:nvPr/>
        </p:nvSpPr>
        <p:spPr>
          <a:xfrm>
            <a:off x="609600" y="5740400"/>
            <a:ext cx="107950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300">
                <a:solidFill>
                  <a:srgbClr val="6B7077"/>
                </a:solidFill>
                <a:latin typeface="Aptos" panose="020B0004020202020204" pitchFamily="34" charset="0"/>
              </a:rPr>
              <a:t>A small proposed SAFE fits a bounded test: debt needs predictable cash flow, and a larger equity raise is premature before the hypothesis is proven.</a:t>
            </a:r>
          </a:p>
        </p:txBody>
      </p:sp>
    </p:spTree>
    <p:extLst>
      <p:ext uri="{BB962C8B-B14F-4D97-AF65-F5344CB8AC3E}">
        <p14:creationId xmlns:p14="http://schemas.microsoft.com/office/powerpoint/2010/main" val="2162278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5E446B-568F-EABF-E762-4671FE418629}"/>
              </a:ext>
            </a:extLst>
          </p:cNvPr>
          <p:cNvSpPr/>
          <p:nvPr/>
        </p:nvSpPr>
        <p:spPr>
          <a:xfrm>
            <a:off x="508000" y="431800"/>
            <a:ext cx="533400" cy="50800"/>
          </a:xfrm>
          <a:prstGeom prst="rect">
            <a:avLst/>
          </a:prstGeom>
          <a:solidFill>
            <a:srgbClr val="D765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110CA2-F702-4D4F-45FE-E85002CF3AE3}"/>
              </a:ext>
            </a:extLst>
          </p:cNvPr>
          <p:cNvSpPr txBox="1"/>
          <p:nvPr/>
        </p:nvSpPr>
        <p:spPr>
          <a:xfrm>
            <a:off x="508000" y="622300"/>
            <a:ext cx="106680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000" b="1">
                <a:solidFill>
                  <a:srgbClr val="5E365F"/>
                </a:solidFill>
                <a:latin typeface="Aptos" panose="020B0004020202020204" pitchFamily="34" charset="0"/>
              </a:rPr>
              <a:t>7:25-8:00  |  FOUNDER OBJECTIVE + CLOSE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6C3C4E-5A41-3C46-E060-14D0645F7662}"/>
              </a:ext>
            </a:extLst>
          </p:cNvPr>
          <p:cNvSpPr txBox="1"/>
          <p:nvPr/>
        </p:nvSpPr>
        <p:spPr>
          <a:xfrm>
            <a:off x="508000" y="1054100"/>
            <a:ext cx="11176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2900">
                <a:solidFill>
                  <a:srgbClr val="20252B"/>
                </a:solidFill>
                <a:latin typeface="Georgia" panose="02040502050405020303" pitchFamily="18" charset="0"/>
              </a:rPr>
              <a:t>Affordable access, earned through disciplined proof.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32DB00-4653-1896-04FE-685B9117E4BD}"/>
              </a:ext>
            </a:extLst>
          </p:cNvPr>
          <p:cNvSpPr/>
          <p:nvPr/>
        </p:nvSpPr>
        <p:spPr>
          <a:xfrm>
            <a:off x="508000" y="6350000"/>
            <a:ext cx="11176000" cy="12700"/>
          </a:xfrm>
          <a:prstGeom prst="rect">
            <a:avLst/>
          </a:prstGeom>
          <a:solidFill>
            <a:srgbClr val="D3CAB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A87F04-7621-B1C0-1D8A-59A40D56EE2C}"/>
              </a:ext>
            </a:extLst>
          </p:cNvPr>
          <p:cNvSpPr txBox="1"/>
          <p:nvPr/>
        </p:nvSpPr>
        <p:spPr>
          <a:xfrm>
            <a:off x="508000" y="6451600"/>
            <a:ext cx="635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900" b="1">
                <a:solidFill>
                  <a:srgbClr val="6B7077"/>
                </a:solidFill>
                <a:latin typeface="Aptos" panose="020B0004020202020204" pitchFamily="34" charset="0"/>
              </a:rPr>
              <a:t>CAREERCLOSET  |  FINAL FUNDRAISING PITCH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CE7D54-D2D4-44CF-8C55-BA1895404C1B}"/>
              </a:ext>
            </a:extLst>
          </p:cNvPr>
          <p:cNvSpPr txBox="1"/>
          <p:nvPr/>
        </p:nvSpPr>
        <p:spPr>
          <a:xfrm>
            <a:off x="10896600" y="6451600"/>
            <a:ext cx="787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sz="900">
                <a:solidFill>
                  <a:srgbClr val="6B7077"/>
                </a:solidFill>
                <a:latin typeface="Aptos" panose="020B0004020202020204" pitchFamily="34" charset="0"/>
              </a:rPr>
              <a:t>11 / 12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A184E43-E9A8-05CB-665A-DA456641CDCE}"/>
              </a:ext>
            </a:extLst>
          </p:cNvPr>
          <p:cNvSpPr/>
          <p:nvPr/>
        </p:nvSpPr>
        <p:spPr>
          <a:xfrm>
            <a:off x="508000" y="2501900"/>
            <a:ext cx="11176000" cy="1587500"/>
          </a:xfrm>
          <a:prstGeom prst="roundRect">
            <a:avLst/>
          </a:prstGeom>
          <a:solidFill>
            <a:srgbClr val="5E36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50A4E4-0544-86E8-AD8D-F6653277AFEC}"/>
              </a:ext>
            </a:extLst>
          </p:cNvPr>
          <p:cNvSpPr txBox="1"/>
          <p:nvPr/>
        </p:nvSpPr>
        <p:spPr>
          <a:xfrm>
            <a:off x="889000" y="2819400"/>
            <a:ext cx="10414000" cy="495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n-US" sz="2500">
                <a:solidFill>
                  <a:srgbClr val="FFFDF8"/>
                </a:solidFill>
                <a:latin typeface="Georgia" panose="02040502050405020303" pitchFamily="18" charset="0"/>
              </a:rPr>
              <a:t>Fund one campus. Measure every rental.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5372DE-1ABB-09E8-F3D3-DA3EAB76F221}"/>
              </a:ext>
            </a:extLst>
          </p:cNvPr>
          <p:cNvSpPr txBox="1"/>
          <p:nvPr/>
        </p:nvSpPr>
        <p:spPr>
          <a:xfrm>
            <a:off x="889000" y="3454400"/>
            <a:ext cx="104140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n-US" sz="1700">
                <a:solidFill>
                  <a:srgbClr val="E6DDE7"/>
                </a:solidFill>
                <a:latin typeface="Aptos" panose="020B0004020202020204" pitchFamily="34" charset="0"/>
              </a:rPr>
              <a:t>Expand only when access and unit economics both work.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55A7DF-4DB9-481F-8AB3-8FFED7C43CB9}"/>
              </a:ext>
            </a:extLst>
          </p:cNvPr>
          <p:cNvSpPr txBox="1"/>
          <p:nvPr/>
        </p:nvSpPr>
        <p:spPr>
          <a:xfrm>
            <a:off x="1016000" y="4508500"/>
            <a:ext cx="10160000" cy="838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n-US" sz="2000">
                <a:solidFill>
                  <a:srgbClr val="20252B"/>
                </a:solidFill>
                <a:latin typeface="Georgia" panose="02040502050405020303" pitchFamily="18" charset="0"/>
              </a:rPr>
              <a:t>We are asking for $15,000 to turn a promising customer hypothesis into a paid, measurable campus pilot.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DFB786-545A-3732-C169-468CCB3D1616}"/>
              </a:ext>
            </a:extLst>
          </p:cNvPr>
          <p:cNvSpPr txBox="1"/>
          <p:nvPr/>
        </p:nvSpPr>
        <p:spPr>
          <a:xfrm>
            <a:off x="1016000" y="5676900"/>
            <a:ext cx="10160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n-US" sz="1300" b="1">
                <a:solidFill>
                  <a:srgbClr val="D7654C"/>
                </a:solidFill>
                <a:latin typeface="Aptos" panose="020B0004020202020204" pitchFamily="34" charset="0"/>
              </a:rPr>
              <a:t>THANK YOU  |  WE WELCOME YOUR QUESTIONS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CA6BB4-DE18-9076-7B68-D3C16D2AB0A4}"/>
              </a:ext>
            </a:extLst>
          </p:cNvPr>
          <p:cNvSpPr txBox="1"/>
          <p:nvPr/>
        </p:nvSpPr>
        <p:spPr>
          <a:xfrm>
            <a:off x="609600" y="6045200"/>
            <a:ext cx="10795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000">
                <a:solidFill>
                  <a:srgbClr val="6B7077"/>
                </a:solidFill>
                <a:latin typeface="Aptos" panose="020B0004020202020204" pitchFamily="34" charset="0"/>
              </a:rPr>
              <a:t>Founder objective stated for this pitch; confirm wording with the full team.</a:t>
            </a:r>
          </a:p>
        </p:txBody>
      </p:sp>
    </p:spTree>
    <p:extLst>
      <p:ext uri="{BB962C8B-B14F-4D97-AF65-F5344CB8AC3E}">
        <p14:creationId xmlns:p14="http://schemas.microsoft.com/office/powerpoint/2010/main" val="1888459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036D32-97BF-A065-68E6-EF3108C17FEB}"/>
              </a:ext>
            </a:extLst>
          </p:cNvPr>
          <p:cNvSpPr/>
          <p:nvPr/>
        </p:nvSpPr>
        <p:spPr>
          <a:xfrm>
            <a:off x="508000" y="431800"/>
            <a:ext cx="533400" cy="50800"/>
          </a:xfrm>
          <a:prstGeom prst="rect">
            <a:avLst/>
          </a:prstGeom>
          <a:solidFill>
            <a:srgbClr val="D765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8DFD87-B57C-727D-3033-0B8E8A0AA4BC}"/>
              </a:ext>
            </a:extLst>
          </p:cNvPr>
          <p:cNvSpPr txBox="1"/>
          <p:nvPr/>
        </p:nvSpPr>
        <p:spPr>
          <a:xfrm>
            <a:off x="508000" y="622300"/>
            <a:ext cx="106680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000" b="1">
                <a:solidFill>
                  <a:srgbClr val="5E365F"/>
                </a:solidFill>
                <a:latin typeface="Aptos" panose="020B0004020202020204" pitchFamily="34" charset="0"/>
              </a:rPr>
              <a:t>INVESTOR QUESTIONS  |  3 MINUTES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251FD5-79C3-AFB1-24F5-18BF62D5670D}"/>
              </a:ext>
            </a:extLst>
          </p:cNvPr>
          <p:cNvSpPr txBox="1"/>
          <p:nvPr/>
        </p:nvSpPr>
        <p:spPr>
          <a:xfrm>
            <a:off x="508000" y="1054100"/>
            <a:ext cx="11176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2900">
                <a:solidFill>
                  <a:srgbClr val="20252B"/>
                </a:solidFill>
                <a:latin typeface="Georgia" panose="02040502050405020303" pitchFamily="18" charset="0"/>
              </a:rPr>
              <a:t>Questions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658C0A-61C3-E20E-66C1-FB9B8FA01F85}"/>
              </a:ext>
            </a:extLst>
          </p:cNvPr>
          <p:cNvSpPr/>
          <p:nvPr/>
        </p:nvSpPr>
        <p:spPr>
          <a:xfrm>
            <a:off x="508000" y="6350000"/>
            <a:ext cx="11176000" cy="12700"/>
          </a:xfrm>
          <a:prstGeom prst="rect">
            <a:avLst/>
          </a:prstGeom>
          <a:solidFill>
            <a:srgbClr val="D3CAB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99C9E5-B876-7FE5-A6EC-B1E1A0EB1A4D}"/>
              </a:ext>
            </a:extLst>
          </p:cNvPr>
          <p:cNvSpPr txBox="1"/>
          <p:nvPr/>
        </p:nvSpPr>
        <p:spPr>
          <a:xfrm>
            <a:off x="508000" y="6451600"/>
            <a:ext cx="635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900" b="1">
                <a:solidFill>
                  <a:srgbClr val="6B7077"/>
                </a:solidFill>
                <a:latin typeface="Aptos" panose="020B0004020202020204" pitchFamily="34" charset="0"/>
              </a:rPr>
              <a:t>CAREERCLOSET  |  FINAL FUNDRAISING PITCH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0F404E-628B-FA94-876A-2BB749111BDE}"/>
              </a:ext>
            </a:extLst>
          </p:cNvPr>
          <p:cNvSpPr txBox="1"/>
          <p:nvPr/>
        </p:nvSpPr>
        <p:spPr>
          <a:xfrm>
            <a:off x="10896600" y="6451600"/>
            <a:ext cx="787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sz="900">
                <a:solidFill>
                  <a:srgbClr val="6B7077"/>
                </a:solidFill>
                <a:latin typeface="Aptos" panose="020B0004020202020204" pitchFamily="34" charset="0"/>
              </a:rPr>
              <a:t>12 / 12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B1AC8A3-50AF-6BA6-DB0A-0ECC210CAE89}"/>
              </a:ext>
            </a:extLst>
          </p:cNvPr>
          <p:cNvSpPr/>
          <p:nvPr/>
        </p:nvSpPr>
        <p:spPr>
          <a:xfrm>
            <a:off x="508000" y="2463800"/>
            <a:ext cx="11176000" cy="1587500"/>
          </a:xfrm>
          <a:prstGeom prst="roundRect">
            <a:avLst/>
          </a:prstGeom>
          <a:solidFill>
            <a:srgbClr val="FFF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113C64-B213-F361-5F6B-CDF608BFC513}"/>
              </a:ext>
            </a:extLst>
          </p:cNvPr>
          <p:cNvSpPr/>
          <p:nvPr/>
        </p:nvSpPr>
        <p:spPr>
          <a:xfrm>
            <a:off x="508000" y="2463800"/>
            <a:ext cx="76200" cy="1587500"/>
          </a:xfrm>
          <a:prstGeom prst="rect">
            <a:avLst/>
          </a:prstGeom>
          <a:solidFill>
            <a:srgbClr val="D765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F27A02-AA3B-CB09-2106-C8A41035351B}"/>
              </a:ext>
            </a:extLst>
          </p:cNvPr>
          <p:cNvSpPr txBox="1"/>
          <p:nvPr/>
        </p:nvSpPr>
        <p:spPr>
          <a:xfrm>
            <a:off x="812800" y="2667000"/>
            <a:ext cx="10414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300" b="1">
                <a:solidFill>
                  <a:srgbClr val="5E365F"/>
                </a:solidFill>
                <a:latin typeface="Aptos" panose="020B0004020202020204" pitchFamily="34" charset="0"/>
              </a:rPr>
              <a:t>RETURNS + DAMAGE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39E937-DD85-8BEA-4933-0F2B1ED71364}"/>
              </a:ext>
            </a:extLst>
          </p:cNvPr>
          <p:cNvSpPr txBox="1"/>
          <p:nvPr/>
        </p:nvSpPr>
        <p:spPr>
          <a:xfrm>
            <a:off x="812800" y="3035300"/>
            <a:ext cx="10414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700" b="1">
                <a:solidFill>
                  <a:srgbClr val="20252B"/>
                </a:solidFill>
                <a:latin typeface="Georgia" panose="02040502050405020303" pitchFamily="18" charset="0"/>
              </a:rPr>
              <a:t>How will deposits, condition checks, late fees, and cleaning affect contribution?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451524-D25C-5E80-8ACA-C1719808C774}"/>
              </a:ext>
            </a:extLst>
          </p:cNvPr>
          <p:cNvSpPr txBox="1"/>
          <p:nvPr/>
        </p:nvSpPr>
        <p:spPr>
          <a:xfrm>
            <a:off x="812800" y="3530600"/>
            <a:ext cx="104140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100">
                <a:solidFill>
                  <a:srgbClr val="6B7077"/>
                </a:solidFill>
                <a:latin typeface="Aptos" panose="020B0004020202020204" pitchFamily="34" charset="0"/>
              </a:rPr>
              <a:t>Answer: Track cleaning, damage, late returns, and handling cost on every rental; compare actual costs with the $8 assumption. Test condition checks, reminders, and deposit/card authorization. Expand only if rentals have positive contribution and at least 80% are returned on time.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A28F559-8C10-9239-DF1D-05240B3B231C}"/>
              </a:ext>
            </a:extLst>
          </p:cNvPr>
          <p:cNvSpPr/>
          <p:nvPr/>
        </p:nvSpPr>
        <p:spPr>
          <a:xfrm>
            <a:off x="508000" y="4368800"/>
            <a:ext cx="11176000" cy="1714500"/>
          </a:xfrm>
          <a:prstGeom prst="roundRect">
            <a:avLst/>
          </a:prstGeom>
          <a:solidFill>
            <a:srgbClr val="FFF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34940E-53A1-DB77-B440-68599DA0E275}"/>
              </a:ext>
            </a:extLst>
          </p:cNvPr>
          <p:cNvSpPr/>
          <p:nvPr/>
        </p:nvSpPr>
        <p:spPr>
          <a:xfrm>
            <a:off x="508000" y="4368800"/>
            <a:ext cx="76200" cy="1714500"/>
          </a:xfrm>
          <a:prstGeom prst="rect">
            <a:avLst/>
          </a:prstGeom>
          <a:solidFill>
            <a:srgbClr val="5E36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F6C6A2-0FC5-63F0-E6FF-1B5C8DE0595A}"/>
              </a:ext>
            </a:extLst>
          </p:cNvPr>
          <p:cNvSpPr txBox="1"/>
          <p:nvPr/>
        </p:nvSpPr>
        <p:spPr>
          <a:xfrm>
            <a:off x="812800" y="4559300"/>
            <a:ext cx="104140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300" b="1">
                <a:solidFill>
                  <a:srgbClr val="5E365F"/>
                </a:solidFill>
                <a:latin typeface="Aptos" panose="020B0004020202020204" pitchFamily="34" charset="0"/>
              </a:rPr>
              <a:t>DEMAND + FIT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C97F30-C6EC-2CB5-A294-EEDAE05B054F}"/>
              </a:ext>
            </a:extLst>
          </p:cNvPr>
          <p:cNvSpPr txBox="1"/>
          <p:nvPr/>
        </p:nvSpPr>
        <p:spPr>
          <a:xfrm>
            <a:off x="812800" y="4902200"/>
            <a:ext cx="104140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700" b="1">
                <a:solidFill>
                  <a:srgbClr val="20252B"/>
                </a:solidFill>
                <a:latin typeface="Georgia" panose="02040502050405020303" pitchFamily="18" charset="0"/>
              </a:rPr>
              <a:t>What result would make you pause rather than buy more inventory?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582861-3D0A-2333-21F7-7AE2C80D83B7}"/>
              </a:ext>
            </a:extLst>
          </p:cNvPr>
          <p:cNvSpPr txBox="1"/>
          <p:nvPr/>
        </p:nvSpPr>
        <p:spPr>
          <a:xfrm>
            <a:off x="812800" y="5410200"/>
            <a:ext cx="104140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100">
                <a:solidFill>
                  <a:srgbClr val="6B7077"/>
                </a:solidFill>
                <a:latin typeface="Aptos" panose="020B0004020202020204" pitchFamily="34" charset="0"/>
              </a:rPr>
              <a:t>Answer: Pause if we miss 75 completed rentals in six months, fewer than 85% of respondents report a good fit, or actual variable costs erase contribution at $29. Adjust price, size mix, or process, then retest before buying more inventory.</a:t>
            </a:r>
          </a:p>
        </p:txBody>
      </p:sp>
    </p:spTree>
    <p:extLst>
      <p:ext uri="{BB962C8B-B14F-4D97-AF65-F5344CB8AC3E}">
        <p14:creationId xmlns:p14="http://schemas.microsoft.com/office/powerpoint/2010/main" val="4222712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1046</Words>
  <Application>Microsoft Office PowerPoint</Application>
  <PresentationFormat>Custom</PresentationFormat>
  <Paragraphs>153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Grace Pavloff</dc:creator>
  <cp:lastModifiedBy>Grace Pavloff</cp:lastModifiedBy>
  <cp:revision>1</cp:revision>
  <dcterms:created xsi:type="dcterms:W3CDTF">2026-10-06T18:26:11Z</dcterms:created>
  <dcterms:modified xsi:type="dcterms:W3CDTF">2026-10-06T18:26:11Z</dcterms:modified>
</cp:coreProperties>
</file>